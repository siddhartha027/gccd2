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1" r:id="rId6"/>
    <p:sldId id="262" r:id="rId7"/>
    <p:sldId id="264" r:id="rId8"/>
    <p:sldId id="265" r:id="rId9"/>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2" d="100"/>
          <a:sy n="52" d="100"/>
        </p:scale>
        <p:origin x="850"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5000" b="0" i="0">
                <a:solidFill>
                  <a:schemeClr val="tx1"/>
                </a:solidFill>
                <a:latin typeface="Arial Black"/>
                <a:cs typeface="Arial Black"/>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2900" b="0" i="0">
                <a:solidFill>
                  <a:schemeClr val="tx1"/>
                </a:solidFill>
                <a:latin typeface="Arial Black"/>
                <a:cs typeface="Arial Black"/>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0" i="0">
                <a:solidFill>
                  <a:schemeClr val="tx1"/>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sz="2900" b="0" i="0">
                <a:solidFill>
                  <a:schemeClr val="tx1"/>
                </a:solidFill>
                <a:latin typeface="Arial Black"/>
                <a:cs typeface="Arial Black"/>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0" i="0">
                <a:solidFill>
                  <a:schemeClr val="tx1"/>
                </a:solidFill>
                <a:latin typeface="Arial Black"/>
                <a:cs typeface="Arial Black"/>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0" i="0">
                <a:solidFill>
                  <a:schemeClr val="tx1"/>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9568238"/>
            <a:ext cx="18288000" cy="718820"/>
          </a:xfrm>
          <a:custGeom>
            <a:avLst/>
            <a:gdLst/>
            <a:ahLst/>
            <a:cxnLst/>
            <a:rect l="l" t="t" r="r" b="b"/>
            <a:pathLst>
              <a:path w="18288000" h="718820">
                <a:moveTo>
                  <a:pt x="18287999" y="718760"/>
                </a:moveTo>
                <a:lnTo>
                  <a:pt x="0" y="718760"/>
                </a:lnTo>
                <a:lnTo>
                  <a:pt x="0" y="0"/>
                </a:lnTo>
                <a:lnTo>
                  <a:pt x="18287999" y="0"/>
                </a:lnTo>
                <a:lnTo>
                  <a:pt x="18287999" y="718760"/>
                </a:lnTo>
                <a:close/>
              </a:path>
            </a:pathLst>
          </a:custGeom>
          <a:solidFill>
            <a:srgbClr val="004AAC"/>
          </a:solidFill>
        </p:spPr>
        <p:txBody>
          <a:bodyPr wrap="square" lIns="0" tIns="0" rIns="0" bIns="0" rtlCol="0"/>
          <a:lstStyle/>
          <a:p>
            <a:endParaRPr/>
          </a:p>
        </p:txBody>
      </p:sp>
      <p:sp>
        <p:nvSpPr>
          <p:cNvPr id="2" name="Holder 2"/>
          <p:cNvSpPr>
            <a:spLocks noGrp="1"/>
          </p:cNvSpPr>
          <p:nvPr>
            <p:ph type="title"/>
          </p:nvPr>
        </p:nvSpPr>
        <p:spPr>
          <a:xfrm>
            <a:off x="3689275" y="537090"/>
            <a:ext cx="10909448" cy="787400"/>
          </a:xfrm>
          <a:prstGeom prst="rect">
            <a:avLst/>
          </a:prstGeom>
        </p:spPr>
        <p:txBody>
          <a:bodyPr wrap="square" lIns="0" tIns="0" rIns="0" bIns="0">
            <a:spAutoFit/>
          </a:bodyPr>
          <a:lstStyle>
            <a:lvl1pPr>
              <a:defRPr sz="5000" b="0" i="0">
                <a:solidFill>
                  <a:schemeClr val="tx1"/>
                </a:solidFill>
                <a:latin typeface="Arial Black"/>
                <a:cs typeface="Arial Black"/>
              </a:defRPr>
            </a:lvl1pPr>
          </a:lstStyle>
          <a:p>
            <a:endParaRPr/>
          </a:p>
        </p:txBody>
      </p:sp>
      <p:sp>
        <p:nvSpPr>
          <p:cNvPr id="3" name="Holder 3"/>
          <p:cNvSpPr>
            <a:spLocks noGrp="1"/>
          </p:cNvSpPr>
          <p:nvPr>
            <p:ph type="body" idx="1"/>
          </p:nvPr>
        </p:nvSpPr>
        <p:spPr>
          <a:xfrm>
            <a:off x="482417" y="1566956"/>
            <a:ext cx="15005685" cy="4368800"/>
          </a:xfrm>
          <a:prstGeom prst="rect">
            <a:avLst/>
          </a:prstGeom>
        </p:spPr>
        <p:txBody>
          <a:bodyPr wrap="square" lIns="0" tIns="0" rIns="0" bIns="0">
            <a:spAutoFit/>
          </a:bodyPr>
          <a:lstStyle>
            <a:lvl1pPr>
              <a:defRPr sz="2900" b="0" i="0">
                <a:solidFill>
                  <a:schemeClr val="tx1"/>
                </a:solidFill>
                <a:latin typeface="Arial Black"/>
                <a:cs typeface="Arial Black"/>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4/6/2026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hyperlink" Target="mailto:codingclub@sru.edu.in"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mailto:codingclub@sru.edu.in"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mailto:codingclub@sru.edu.in"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mailto:codingclub@sru.edu.in"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mailto:codingclub@sru.edu.in"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mailto:codingclub@sru.edu.in"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44807" y="314380"/>
            <a:ext cx="1571624" cy="1078140"/>
          </a:xfrm>
          <a:prstGeom prst="rect">
            <a:avLst/>
          </a:prstGeom>
        </p:spPr>
      </p:pic>
      <p:pic>
        <p:nvPicPr>
          <p:cNvPr id="3" name="object 3"/>
          <p:cNvPicPr/>
          <p:nvPr/>
        </p:nvPicPr>
        <p:blipFill>
          <a:blip r:embed="rId3" cstate="print"/>
          <a:stretch>
            <a:fillRect/>
          </a:stretch>
        </p:blipFill>
        <p:spPr>
          <a:xfrm>
            <a:off x="16705673" y="62340"/>
            <a:ext cx="1523999" cy="1523999"/>
          </a:xfrm>
          <a:prstGeom prst="rect">
            <a:avLst/>
          </a:prstGeom>
        </p:spPr>
      </p:pic>
      <p:sp>
        <p:nvSpPr>
          <p:cNvPr id="4" name="object 4"/>
          <p:cNvSpPr/>
          <p:nvPr/>
        </p:nvSpPr>
        <p:spPr>
          <a:xfrm>
            <a:off x="0" y="2079239"/>
            <a:ext cx="18288000" cy="113664"/>
          </a:xfrm>
          <a:custGeom>
            <a:avLst/>
            <a:gdLst/>
            <a:ahLst/>
            <a:cxnLst/>
            <a:rect l="l" t="t" r="r" b="b"/>
            <a:pathLst>
              <a:path w="18288000" h="113664">
                <a:moveTo>
                  <a:pt x="0" y="113219"/>
                </a:moveTo>
                <a:lnTo>
                  <a:pt x="0" y="17968"/>
                </a:lnTo>
                <a:lnTo>
                  <a:pt x="18288000" y="0"/>
                </a:lnTo>
                <a:lnTo>
                  <a:pt x="18288000" y="95250"/>
                </a:lnTo>
                <a:lnTo>
                  <a:pt x="0" y="113219"/>
                </a:lnTo>
                <a:close/>
              </a:path>
            </a:pathLst>
          </a:custGeom>
          <a:solidFill>
            <a:srgbClr val="004AAC"/>
          </a:solidFill>
        </p:spPr>
        <p:txBody>
          <a:bodyPr wrap="square" lIns="0" tIns="0" rIns="0" bIns="0" rtlCol="0"/>
          <a:lstStyle/>
          <a:p>
            <a:endParaRPr/>
          </a:p>
        </p:txBody>
      </p:sp>
      <p:pic>
        <p:nvPicPr>
          <p:cNvPr id="5" name="object 5"/>
          <p:cNvPicPr/>
          <p:nvPr/>
        </p:nvPicPr>
        <p:blipFill>
          <a:blip r:embed="rId4" cstate="print"/>
          <a:stretch>
            <a:fillRect/>
          </a:stretch>
        </p:blipFill>
        <p:spPr>
          <a:xfrm>
            <a:off x="923235" y="3398126"/>
            <a:ext cx="200025" cy="200024"/>
          </a:xfrm>
          <a:prstGeom prst="rect">
            <a:avLst/>
          </a:prstGeom>
        </p:spPr>
      </p:pic>
      <p:sp>
        <p:nvSpPr>
          <p:cNvPr id="6" name="object 6"/>
          <p:cNvSpPr txBox="1"/>
          <p:nvPr/>
        </p:nvSpPr>
        <p:spPr>
          <a:xfrm>
            <a:off x="1377260" y="2994900"/>
            <a:ext cx="16132810" cy="4840941"/>
          </a:xfrm>
          <a:prstGeom prst="rect">
            <a:avLst/>
          </a:prstGeom>
        </p:spPr>
        <p:txBody>
          <a:bodyPr vert="horz" wrap="square" lIns="0" tIns="12065" rIns="0" bIns="0" rtlCol="0">
            <a:spAutoFit/>
          </a:bodyPr>
          <a:lstStyle/>
          <a:p>
            <a:pPr marL="12700" marR="5080">
              <a:lnSpc>
                <a:spcPct val="116700"/>
              </a:lnSpc>
              <a:spcBef>
                <a:spcPts val="95"/>
              </a:spcBef>
            </a:pPr>
            <a:r>
              <a:rPr sz="4500" i="1" spc="195" dirty="0">
                <a:latin typeface="Arial"/>
                <a:cs typeface="Arial"/>
              </a:rPr>
              <a:t>Project</a:t>
            </a:r>
            <a:r>
              <a:rPr sz="4500" i="1" spc="-204" dirty="0">
                <a:latin typeface="Arial"/>
                <a:cs typeface="Arial"/>
              </a:rPr>
              <a:t> </a:t>
            </a:r>
            <a:r>
              <a:rPr sz="4500" i="1" spc="120" dirty="0">
                <a:latin typeface="Arial"/>
                <a:cs typeface="Arial"/>
              </a:rPr>
              <a:t>Title:</a:t>
            </a:r>
            <a:r>
              <a:rPr lang="en-IN" sz="4500" i="1" spc="120" dirty="0">
                <a:latin typeface="Arial"/>
                <a:cs typeface="Arial"/>
              </a:rPr>
              <a:t> </a:t>
            </a:r>
            <a:r>
              <a:rPr lang="en-IN" sz="4500" i="1" spc="120" dirty="0" err="1">
                <a:latin typeface="Arial"/>
                <a:cs typeface="Arial"/>
              </a:rPr>
              <a:t>Geriatic</a:t>
            </a:r>
            <a:r>
              <a:rPr lang="en-IN" sz="4500" i="1" spc="120" dirty="0">
                <a:latin typeface="Arial"/>
                <a:cs typeface="Arial"/>
              </a:rPr>
              <a:t> chronic care coordination hub</a:t>
            </a:r>
          </a:p>
          <a:p>
            <a:pPr marL="12700" marR="5080">
              <a:lnSpc>
                <a:spcPct val="116700"/>
              </a:lnSpc>
              <a:spcBef>
                <a:spcPts val="95"/>
              </a:spcBef>
            </a:pPr>
            <a:r>
              <a:rPr sz="4500" i="1" spc="185" dirty="0">
                <a:latin typeface="Arial"/>
                <a:cs typeface="Arial"/>
              </a:rPr>
              <a:t>Domain:</a:t>
            </a:r>
            <a:r>
              <a:rPr lang="en-IN" sz="4500" i="1" spc="185" dirty="0">
                <a:latin typeface="Arial"/>
                <a:cs typeface="Arial"/>
              </a:rPr>
              <a:t> </a:t>
            </a:r>
            <a:r>
              <a:rPr sz="4500" i="1" spc="-220" dirty="0">
                <a:latin typeface="Arial"/>
                <a:cs typeface="Arial"/>
              </a:rPr>
              <a:t> </a:t>
            </a:r>
            <a:r>
              <a:rPr lang="en-US" sz="4500" i="1" spc="-120" dirty="0">
                <a:latin typeface="Arial"/>
                <a:cs typeface="Arial"/>
              </a:rPr>
              <a:t>HT-04 </a:t>
            </a:r>
            <a:r>
              <a:rPr sz="4500" i="1" spc="190" dirty="0">
                <a:latin typeface="Arial"/>
                <a:cs typeface="Arial"/>
              </a:rPr>
              <a:t>(</a:t>
            </a:r>
            <a:r>
              <a:rPr lang="en-US" sz="4500" i="1" spc="190" dirty="0">
                <a:latin typeface="Arial"/>
                <a:cs typeface="Arial"/>
              </a:rPr>
              <a:t>Health Tech</a:t>
            </a:r>
            <a:r>
              <a:rPr sz="4500" i="1" spc="114" dirty="0">
                <a:latin typeface="Arial"/>
                <a:cs typeface="Arial"/>
              </a:rPr>
              <a:t>) </a:t>
            </a:r>
            <a:endParaRPr lang="en-US" sz="4500" i="1" spc="114" dirty="0">
              <a:latin typeface="Arial"/>
              <a:cs typeface="Arial"/>
            </a:endParaRPr>
          </a:p>
          <a:p>
            <a:pPr marL="12700" marR="5080">
              <a:lnSpc>
                <a:spcPct val="116700"/>
              </a:lnSpc>
              <a:spcBef>
                <a:spcPts val="95"/>
              </a:spcBef>
            </a:pPr>
            <a:r>
              <a:rPr sz="4500" i="1" spc="135" dirty="0">
                <a:latin typeface="Arial"/>
                <a:cs typeface="Arial"/>
              </a:rPr>
              <a:t>Team</a:t>
            </a:r>
            <a:r>
              <a:rPr sz="4500" i="1" spc="-225" dirty="0">
                <a:latin typeface="Arial"/>
                <a:cs typeface="Arial"/>
              </a:rPr>
              <a:t> </a:t>
            </a:r>
            <a:r>
              <a:rPr sz="4500" i="1" spc="145" dirty="0">
                <a:latin typeface="Arial"/>
                <a:cs typeface="Arial"/>
              </a:rPr>
              <a:t>Name:</a:t>
            </a:r>
            <a:r>
              <a:rPr sz="4500" i="1" spc="-225" dirty="0">
                <a:latin typeface="Arial"/>
                <a:cs typeface="Arial"/>
              </a:rPr>
              <a:t> </a:t>
            </a:r>
            <a:r>
              <a:rPr lang="en-US" sz="4500" i="1" spc="195" dirty="0">
                <a:latin typeface="Arial"/>
                <a:cs typeface="Arial"/>
              </a:rPr>
              <a:t>team echo</a:t>
            </a:r>
            <a:endParaRPr lang="en-IN" sz="4500" dirty="0">
              <a:latin typeface="Arial"/>
              <a:cs typeface="Arial"/>
            </a:endParaRPr>
          </a:p>
          <a:p>
            <a:pPr marL="12700" marR="2054225">
              <a:lnSpc>
                <a:spcPts val="6300"/>
              </a:lnSpc>
            </a:pPr>
            <a:r>
              <a:rPr sz="3600" i="1" spc="135" dirty="0">
                <a:latin typeface="Arial"/>
                <a:cs typeface="Arial"/>
              </a:rPr>
              <a:t>Team</a:t>
            </a:r>
            <a:r>
              <a:rPr sz="3600" i="1" spc="-240" dirty="0">
                <a:latin typeface="Arial"/>
                <a:cs typeface="Arial"/>
              </a:rPr>
              <a:t> </a:t>
            </a:r>
            <a:r>
              <a:rPr sz="3600" i="1" spc="140" dirty="0">
                <a:latin typeface="Arial"/>
                <a:cs typeface="Arial"/>
              </a:rPr>
              <a:t>Members</a:t>
            </a:r>
            <a:r>
              <a:rPr lang="en-IN" sz="3600" i="1" spc="140" dirty="0">
                <a:latin typeface="Arial"/>
                <a:cs typeface="Arial"/>
              </a:rPr>
              <a:t>:</a:t>
            </a:r>
            <a:r>
              <a:rPr lang="en-IN" sz="3600" i="1" spc="-229" dirty="0">
                <a:latin typeface="Arial"/>
                <a:cs typeface="Arial"/>
              </a:rPr>
              <a:t> Siddhartha , Afrin </a:t>
            </a:r>
            <a:r>
              <a:rPr lang="en-IN" sz="3600" i="1" spc="-229" dirty="0" err="1">
                <a:latin typeface="Arial"/>
                <a:cs typeface="Arial"/>
              </a:rPr>
              <a:t>Sulthana</a:t>
            </a:r>
            <a:r>
              <a:rPr lang="en-IN" sz="3600" i="1" spc="-229" dirty="0">
                <a:latin typeface="Arial"/>
                <a:cs typeface="Arial"/>
              </a:rPr>
              <a:t> ,</a:t>
            </a:r>
            <a:r>
              <a:rPr lang="en-IN" sz="3600" i="1" spc="-229" dirty="0" err="1">
                <a:latin typeface="Arial"/>
                <a:cs typeface="Arial"/>
              </a:rPr>
              <a:t>Ramvardhan</a:t>
            </a:r>
            <a:r>
              <a:rPr lang="en-IN" sz="3600" i="1" spc="-229" dirty="0">
                <a:latin typeface="Arial"/>
                <a:cs typeface="Arial"/>
              </a:rPr>
              <a:t> , </a:t>
            </a:r>
            <a:r>
              <a:rPr lang="en-IN" sz="3600" i="1" spc="-229" dirty="0" err="1">
                <a:latin typeface="Arial"/>
                <a:cs typeface="Arial"/>
              </a:rPr>
              <a:t>vyshnavi</a:t>
            </a:r>
            <a:endParaRPr lang="en-IN" sz="3600" i="1" spc="-229" dirty="0">
              <a:latin typeface="Arial"/>
              <a:cs typeface="Arial"/>
            </a:endParaRPr>
          </a:p>
          <a:p>
            <a:pPr marL="12700" marR="2054225">
              <a:lnSpc>
                <a:spcPts val="6300"/>
              </a:lnSpc>
            </a:pPr>
            <a:r>
              <a:rPr lang="en-IN" sz="3600" i="1" spc="-229" dirty="0">
                <a:latin typeface="Arial"/>
                <a:cs typeface="Arial"/>
              </a:rPr>
              <a:t> </a:t>
            </a:r>
            <a:r>
              <a:rPr lang="en-IN" sz="4500" i="1" spc="245" dirty="0">
                <a:latin typeface="Arial"/>
                <a:cs typeface="Arial"/>
              </a:rPr>
              <a:t>Department:</a:t>
            </a:r>
            <a:r>
              <a:rPr lang="en-IN" sz="4500" i="1" spc="-225" dirty="0">
                <a:latin typeface="Arial"/>
                <a:cs typeface="Arial"/>
              </a:rPr>
              <a:t> ECE</a:t>
            </a:r>
          </a:p>
          <a:p>
            <a:pPr marL="12700" marR="2054225">
              <a:lnSpc>
                <a:spcPts val="6300"/>
              </a:lnSpc>
            </a:pPr>
            <a:r>
              <a:rPr sz="4500" i="1" spc="105" dirty="0">
                <a:latin typeface="Arial"/>
                <a:cs typeface="Arial"/>
              </a:rPr>
              <a:t>Event:</a:t>
            </a:r>
            <a:r>
              <a:rPr sz="4500" i="1" spc="-225" dirty="0">
                <a:latin typeface="Arial"/>
                <a:cs typeface="Arial"/>
              </a:rPr>
              <a:t> </a:t>
            </a:r>
            <a:r>
              <a:rPr sz="4500" i="1" spc="260" dirty="0">
                <a:latin typeface="Arial"/>
                <a:cs typeface="Arial"/>
              </a:rPr>
              <a:t>Udbhava</a:t>
            </a:r>
            <a:r>
              <a:rPr sz="4500" i="1" spc="-210" dirty="0">
                <a:latin typeface="Arial"/>
                <a:cs typeface="Arial"/>
              </a:rPr>
              <a:t> </a:t>
            </a:r>
            <a:r>
              <a:rPr sz="4500" i="1" dirty="0">
                <a:latin typeface="Arial"/>
                <a:cs typeface="Arial"/>
              </a:rPr>
              <a:t>X’26,</a:t>
            </a:r>
            <a:r>
              <a:rPr sz="4500" i="1" spc="-210" dirty="0">
                <a:latin typeface="Arial"/>
                <a:cs typeface="Arial"/>
              </a:rPr>
              <a:t> </a:t>
            </a:r>
            <a:r>
              <a:rPr sz="4500" i="1" spc="120" dirty="0">
                <a:latin typeface="Arial"/>
                <a:cs typeface="Arial"/>
              </a:rPr>
              <a:t>Coding</a:t>
            </a:r>
            <a:r>
              <a:rPr sz="4500" i="1" spc="-210" dirty="0">
                <a:latin typeface="Arial"/>
                <a:cs typeface="Arial"/>
              </a:rPr>
              <a:t> </a:t>
            </a:r>
            <a:r>
              <a:rPr sz="4500" i="1" spc="165" dirty="0">
                <a:latin typeface="Arial"/>
                <a:cs typeface="Arial"/>
              </a:rPr>
              <a:t>Club</a:t>
            </a:r>
            <a:r>
              <a:rPr sz="4500" i="1" spc="-210" dirty="0">
                <a:latin typeface="Arial"/>
                <a:cs typeface="Arial"/>
              </a:rPr>
              <a:t> </a:t>
            </a:r>
            <a:r>
              <a:rPr sz="4500" i="1" spc="-305" dirty="0">
                <a:latin typeface="Arial"/>
                <a:cs typeface="Arial"/>
              </a:rPr>
              <a:t>SR</a:t>
            </a:r>
            <a:r>
              <a:rPr sz="4500" i="1" spc="-210" dirty="0">
                <a:latin typeface="Arial"/>
                <a:cs typeface="Arial"/>
              </a:rPr>
              <a:t> </a:t>
            </a:r>
            <a:r>
              <a:rPr sz="4500" i="1" spc="180" dirty="0">
                <a:latin typeface="Arial"/>
                <a:cs typeface="Arial"/>
              </a:rPr>
              <a:t>University</a:t>
            </a:r>
            <a:endParaRPr sz="4500" dirty="0">
              <a:latin typeface="Arial"/>
              <a:cs typeface="Arial"/>
            </a:endParaRPr>
          </a:p>
        </p:txBody>
      </p:sp>
      <p:pic>
        <p:nvPicPr>
          <p:cNvPr id="7" name="object 7"/>
          <p:cNvPicPr/>
          <p:nvPr/>
        </p:nvPicPr>
        <p:blipFill>
          <a:blip r:embed="rId4" cstate="print"/>
          <a:stretch>
            <a:fillRect/>
          </a:stretch>
        </p:blipFill>
        <p:spPr>
          <a:xfrm>
            <a:off x="923235" y="4998326"/>
            <a:ext cx="200025" cy="200024"/>
          </a:xfrm>
          <a:prstGeom prst="rect">
            <a:avLst/>
          </a:prstGeom>
        </p:spPr>
      </p:pic>
      <p:pic>
        <p:nvPicPr>
          <p:cNvPr id="8" name="object 8"/>
          <p:cNvPicPr/>
          <p:nvPr/>
        </p:nvPicPr>
        <p:blipFill>
          <a:blip r:embed="rId4" cstate="print"/>
          <a:stretch>
            <a:fillRect/>
          </a:stretch>
        </p:blipFill>
        <p:spPr>
          <a:xfrm>
            <a:off x="923235" y="5798426"/>
            <a:ext cx="200025" cy="200024"/>
          </a:xfrm>
          <a:prstGeom prst="rect">
            <a:avLst/>
          </a:prstGeom>
        </p:spPr>
      </p:pic>
      <p:pic>
        <p:nvPicPr>
          <p:cNvPr id="10" name="object 10"/>
          <p:cNvPicPr/>
          <p:nvPr/>
        </p:nvPicPr>
        <p:blipFill>
          <a:blip r:embed="rId4" cstate="print"/>
          <a:stretch>
            <a:fillRect/>
          </a:stretch>
        </p:blipFill>
        <p:spPr>
          <a:xfrm>
            <a:off x="923235" y="7398625"/>
            <a:ext cx="200025" cy="200024"/>
          </a:xfrm>
          <a:prstGeom prst="rect">
            <a:avLst/>
          </a:prstGeom>
        </p:spPr>
      </p:pic>
      <p:pic>
        <p:nvPicPr>
          <p:cNvPr id="11" name="object 11"/>
          <p:cNvPicPr/>
          <p:nvPr/>
        </p:nvPicPr>
        <p:blipFill>
          <a:blip r:embed="rId4" cstate="print"/>
          <a:stretch>
            <a:fillRect/>
          </a:stretch>
        </p:blipFill>
        <p:spPr>
          <a:xfrm>
            <a:off x="923234" y="6593220"/>
            <a:ext cx="200025" cy="200024"/>
          </a:xfrm>
          <a:prstGeom prst="rect">
            <a:avLst/>
          </a:prstGeom>
        </p:spPr>
      </p:pic>
      <p:sp>
        <p:nvSpPr>
          <p:cNvPr id="12" name="object 12"/>
          <p:cNvSpPr txBox="1">
            <a:spLocks noGrp="1"/>
          </p:cNvSpPr>
          <p:nvPr>
            <p:ph type="title"/>
          </p:nvPr>
        </p:nvSpPr>
        <p:spPr>
          <a:xfrm>
            <a:off x="5470341" y="78171"/>
            <a:ext cx="7385684" cy="1549400"/>
          </a:xfrm>
          <a:prstGeom prst="rect">
            <a:avLst/>
          </a:prstGeom>
        </p:spPr>
        <p:txBody>
          <a:bodyPr vert="horz" wrap="square" lIns="0" tIns="12700" rIns="0" bIns="0" rtlCol="0">
            <a:spAutoFit/>
          </a:bodyPr>
          <a:lstStyle/>
          <a:p>
            <a:pPr marL="12700">
              <a:lnSpc>
                <a:spcPct val="100000"/>
              </a:lnSpc>
              <a:spcBef>
                <a:spcPts val="100"/>
              </a:spcBef>
            </a:pPr>
            <a:r>
              <a:rPr sz="10000" spc="330" dirty="0">
                <a:solidFill>
                  <a:srgbClr val="004AAC"/>
                </a:solidFill>
                <a:latin typeface="Times New Roman"/>
                <a:cs typeface="Times New Roman"/>
              </a:rPr>
              <a:t>Ud</a:t>
            </a:r>
            <a:r>
              <a:rPr sz="10000" dirty="0">
                <a:solidFill>
                  <a:srgbClr val="004AAC"/>
                </a:solidFill>
                <a:latin typeface="Times New Roman"/>
                <a:cs typeface="Times New Roman"/>
              </a:rPr>
              <a:t>b</a:t>
            </a:r>
            <a:r>
              <a:rPr sz="10000" spc="330" dirty="0">
                <a:solidFill>
                  <a:srgbClr val="004AAC"/>
                </a:solidFill>
                <a:latin typeface="Times New Roman"/>
                <a:cs typeface="Times New Roman"/>
              </a:rPr>
              <a:t>h</a:t>
            </a:r>
            <a:r>
              <a:rPr sz="10000" spc="-340" dirty="0">
                <a:solidFill>
                  <a:srgbClr val="004AAC"/>
                </a:solidFill>
                <a:latin typeface="Times New Roman"/>
                <a:cs typeface="Times New Roman"/>
              </a:rPr>
              <a:t>a</a:t>
            </a:r>
            <a:r>
              <a:rPr sz="10000" spc="130" dirty="0">
                <a:solidFill>
                  <a:srgbClr val="004AAC"/>
                </a:solidFill>
                <a:latin typeface="Times New Roman"/>
                <a:cs typeface="Times New Roman"/>
              </a:rPr>
              <a:t>v</a:t>
            </a:r>
            <a:r>
              <a:rPr sz="10000" spc="330" dirty="0">
                <a:solidFill>
                  <a:srgbClr val="004AAC"/>
                </a:solidFill>
                <a:latin typeface="Times New Roman"/>
                <a:cs typeface="Times New Roman"/>
              </a:rPr>
              <a:t>aX</a:t>
            </a:r>
            <a:r>
              <a:rPr sz="10000" spc="325" dirty="0">
                <a:solidFill>
                  <a:srgbClr val="004AAC"/>
                </a:solidFill>
                <a:latin typeface="Times New Roman"/>
                <a:cs typeface="Times New Roman"/>
              </a:rPr>
              <a:t>'</a:t>
            </a:r>
            <a:r>
              <a:rPr sz="10000" spc="330" dirty="0">
                <a:solidFill>
                  <a:srgbClr val="004AAC"/>
                </a:solidFill>
                <a:latin typeface="Times New Roman"/>
                <a:cs typeface="Times New Roman"/>
              </a:rPr>
              <a:t>2</a:t>
            </a:r>
            <a:r>
              <a:rPr sz="10000" spc="335" dirty="0">
                <a:solidFill>
                  <a:srgbClr val="004AAC"/>
                </a:solidFill>
                <a:latin typeface="Times New Roman"/>
                <a:cs typeface="Times New Roman"/>
              </a:rPr>
              <a:t>6</a:t>
            </a:r>
            <a:endParaRPr sz="10000" dirty="0">
              <a:latin typeface="Times New Roman"/>
              <a:cs typeface="Times New Roman"/>
            </a:endParaRPr>
          </a:p>
        </p:txBody>
      </p:sp>
      <p:pic>
        <p:nvPicPr>
          <p:cNvPr id="17" name="object 11">
            <a:extLst>
              <a:ext uri="{FF2B5EF4-FFF2-40B4-BE49-F238E27FC236}">
                <a16:creationId xmlns:a16="http://schemas.microsoft.com/office/drawing/2014/main" id="{460B7323-45E2-B642-C4A8-2B7FAA3507B4}"/>
              </a:ext>
            </a:extLst>
          </p:cNvPr>
          <p:cNvPicPr/>
          <p:nvPr/>
        </p:nvPicPr>
        <p:blipFill>
          <a:blip r:embed="rId4" cstate="print"/>
          <a:stretch>
            <a:fillRect/>
          </a:stretch>
        </p:blipFill>
        <p:spPr>
          <a:xfrm>
            <a:off x="923234" y="4200879"/>
            <a:ext cx="200025" cy="2000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51740" y="182681"/>
            <a:ext cx="1514474" cy="1514474"/>
          </a:xfrm>
          <a:prstGeom prst="rect">
            <a:avLst/>
          </a:prstGeom>
        </p:spPr>
      </p:pic>
      <p:pic>
        <p:nvPicPr>
          <p:cNvPr id="6" name="object 6"/>
          <p:cNvPicPr/>
          <p:nvPr/>
        </p:nvPicPr>
        <p:blipFill>
          <a:blip r:embed="rId3" cstate="print"/>
          <a:stretch>
            <a:fillRect/>
          </a:stretch>
        </p:blipFill>
        <p:spPr>
          <a:xfrm>
            <a:off x="244807" y="314380"/>
            <a:ext cx="1571624" cy="1078140"/>
          </a:xfrm>
          <a:prstGeom prst="rect">
            <a:avLst/>
          </a:prstGeom>
        </p:spPr>
      </p:pic>
      <p:grpSp>
        <p:nvGrpSpPr>
          <p:cNvPr id="7" name="object 7"/>
          <p:cNvGrpSpPr/>
          <p:nvPr/>
        </p:nvGrpSpPr>
        <p:grpSpPr>
          <a:xfrm>
            <a:off x="6347447" y="9626432"/>
            <a:ext cx="638175" cy="638175"/>
            <a:chOff x="6347447" y="9626432"/>
            <a:chExt cx="638175" cy="638175"/>
          </a:xfrm>
        </p:grpSpPr>
        <p:sp>
          <p:nvSpPr>
            <p:cNvPr id="8" name="object 8"/>
            <p:cNvSpPr/>
            <p:nvPr/>
          </p:nvSpPr>
          <p:spPr>
            <a:xfrm>
              <a:off x="6347447" y="9626432"/>
              <a:ext cx="638175" cy="638175"/>
            </a:xfrm>
            <a:custGeom>
              <a:avLst/>
              <a:gdLst/>
              <a:ahLst/>
              <a:cxnLst/>
              <a:rect l="l" t="t" r="r" b="b"/>
              <a:pathLst>
                <a:path w="638175" h="638175">
                  <a:moveTo>
                    <a:pt x="319087" y="638174"/>
                  </a:moveTo>
                  <a:lnTo>
                    <a:pt x="280025" y="635775"/>
                  </a:lnTo>
                  <a:lnTo>
                    <a:pt x="241555" y="628612"/>
                  </a:lnTo>
                  <a:lnTo>
                    <a:pt x="204251" y="616794"/>
                  </a:lnTo>
                  <a:lnTo>
                    <a:pt x="168670" y="600497"/>
                  </a:lnTo>
                  <a:lnTo>
                    <a:pt x="135352" y="579967"/>
                  </a:lnTo>
                  <a:lnTo>
                    <a:pt x="104801" y="555515"/>
                  </a:lnTo>
                  <a:lnTo>
                    <a:pt x="77473" y="527508"/>
                  </a:lnTo>
                  <a:lnTo>
                    <a:pt x="53775" y="496362"/>
                  </a:lnTo>
                  <a:lnTo>
                    <a:pt x="34069" y="462550"/>
                  </a:lnTo>
                  <a:lnTo>
                    <a:pt x="18652" y="426584"/>
                  </a:lnTo>
                  <a:lnTo>
                    <a:pt x="7753" y="389002"/>
                  </a:lnTo>
                  <a:lnTo>
                    <a:pt x="1536" y="350363"/>
                  </a:lnTo>
                  <a:lnTo>
                    <a:pt x="0" y="319087"/>
                  </a:lnTo>
                  <a:lnTo>
                    <a:pt x="96" y="311254"/>
                  </a:lnTo>
                  <a:lnTo>
                    <a:pt x="3453" y="272267"/>
                  </a:lnTo>
                  <a:lnTo>
                    <a:pt x="11557" y="233985"/>
                  </a:lnTo>
                  <a:lnTo>
                    <a:pt x="24289" y="196977"/>
                  </a:lnTo>
                  <a:lnTo>
                    <a:pt x="41454" y="161807"/>
                  </a:lnTo>
                  <a:lnTo>
                    <a:pt x="62793" y="129007"/>
                  </a:lnTo>
                  <a:lnTo>
                    <a:pt x="87987" y="99065"/>
                  </a:lnTo>
                  <a:lnTo>
                    <a:pt x="116660" y="72429"/>
                  </a:lnTo>
                  <a:lnTo>
                    <a:pt x="148378" y="49503"/>
                  </a:lnTo>
                  <a:lnTo>
                    <a:pt x="182659" y="30635"/>
                  </a:lnTo>
                  <a:lnTo>
                    <a:pt x="218993" y="16105"/>
                  </a:lnTo>
                  <a:lnTo>
                    <a:pt x="256836" y="6131"/>
                  </a:lnTo>
                  <a:lnTo>
                    <a:pt x="295616" y="864"/>
                  </a:lnTo>
                  <a:lnTo>
                    <a:pt x="319087" y="0"/>
                  </a:lnTo>
                  <a:lnTo>
                    <a:pt x="326920" y="96"/>
                  </a:lnTo>
                  <a:lnTo>
                    <a:pt x="365907" y="3453"/>
                  </a:lnTo>
                  <a:lnTo>
                    <a:pt x="404189" y="11557"/>
                  </a:lnTo>
                  <a:lnTo>
                    <a:pt x="441196" y="24289"/>
                  </a:lnTo>
                  <a:lnTo>
                    <a:pt x="476367" y="41454"/>
                  </a:lnTo>
                  <a:lnTo>
                    <a:pt x="509167" y="62793"/>
                  </a:lnTo>
                  <a:lnTo>
                    <a:pt x="539109" y="87987"/>
                  </a:lnTo>
                  <a:lnTo>
                    <a:pt x="565745" y="116660"/>
                  </a:lnTo>
                  <a:lnTo>
                    <a:pt x="588671" y="148378"/>
                  </a:lnTo>
                  <a:lnTo>
                    <a:pt x="607539" y="182659"/>
                  </a:lnTo>
                  <a:lnTo>
                    <a:pt x="622069" y="218993"/>
                  </a:lnTo>
                  <a:lnTo>
                    <a:pt x="632043" y="256836"/>
                  </a:lnTo>
                  <a:lnTo>
                    <a:pt x="637310" y="295616"/>
                  </a:lnTo>
                  <a:lnTo>
                    <a:pt x="638174" y="319087"/>
                  </a:lnTo>
                  <a:lnTo>
                    <a:pt x="638078" y="326920"/>
                  </a:lnTo>
                  <a:lnTo>
                    <a:pt x="634721" y="365907"/>
                  </a:lnTo>
                  <a:lnTo>
                    <a:pt x="626617" y="404189"/>
                  </a:lnTo>
                  <a:lnTo>
                    <a:pt x="613885" y="441196"/>
                  </a:lnTo>
                  <a:lnTo>
                    <a:pt x="596720" y="476367"/>
                  </a:lnTo>
                  <a:lnTo>
                    <a:pt x="575381" y="509167"/>
                  </a:lnTo>
                  <a:lnTo>
                    <a:pt x="550187" y="539109"/>
                  </a:lnTo>
                  <a:lnTo>
                    <a:pt x="521514" y="565745"/>
                  </a:lnTo>
                  <a:lnTo>
                    <a:pt x="489796" y="588671"/>
                  </a:lnTo>
                  <a:lnTo>
                    <a:pt x="455515" y="607539"/>
                  </a:lnTo>
                  <a:lnTo>
                    <a:pt x="419181" y="622069"/>
                  </a:lnTo>
                  <a:lnTo>
                    <a:pt x="381338" y="632043"/>
                  </a:lnTo>
                  <a:lnTo>
                    <a:pt x="342558" y="637310"/>
                  </a:lnTo>
                  <a:lnTo>
                    <a:pt x="319087" y="638174"/>
                  </a:lnTo>
                  <a:close/>
                </a:path>
              </a:pathLst>
            </a:custGeom>
            <a:solidFill>
              <a:srgbClr val="000000"/>
            </a:solidFill>
          </p:spPr>
          <p:txBody>
            <a:bodyPr wrap="square" lIns="0" tIns="0" rIns="0" bIns="0" rtlCol="0"/>
            <a:lstStyle/>
            <a:p>
              <a:endParaRPr/>
            </a:p>
          </p:txBody>
        </p:sp>
        <p:sp>
          <p:nvSpPr>
            <p:cNvPr id="9" name="object 9"/>
            <p:cNvSpPr/>
            <p:nvPr/>
          </p:nvSpPr>
          <p:spPr>
            <a:xfrm>
              <a:off x="6466160" y="9825813"/>
              <a:ext cx="399415" cy="240029"/>
            </a:xfrm>
            <a:custGeom>
              <a:avLst/>
              <a:gdLst/>
              <a:ahLst/>
              <a:cxnLst/>
              <a:rect l="l" t="t" r="r" b="b"/>
              <a:pathLst>
                <a:path w="399415" h="240029">
                  <a:moveTo>
                    <a:pt x="199546" y="108022"/>
                  </a:moveTo>
                  <a:lnTo>
                    <a:pt x="9218" y="3402"/>
                  </a:lnTo>
                  <a:lnTo>
                    <a:pt x="12464" y="1254"/>
                  </a:lnTo>
                  <a:lnTo>
                    <a:pt x="16353" y="0"/>
                  </a:lnTo>
                  <a:lnTo>
                    <a:pt x="383012" y="0"/>
                  </a:lnTo>
                  <a:lnTo>
                    <a:pt x="387333" y="1576"/>
                  </a:lnTo>
                  <a:lnTo>
                    <a:pt x="390791" y="4223"/>
                  </a:lnTo>
                  <a:lnTo>
                    <a:pt x="199546" y="108022"/>
                  </a:lnTo>
                  <a:close/>
                </a:path>
                <a:path w="399415" h="240029">
                  <a:moveTo>
                    <a:pt x="679" y="224123"/>
                  </a:moveTo>
                  <a:lnTo>
                    <a:pt x="231" y="222404"/>
                  </a:lnTo>
                  <a:lnTo>
                    <a:pt x="0" y="220689"/>
                  </a:lnTo>
                  <a:lnTo>
                    <a:pt x="0" y="21645"/>
                  </a:lnTo>
                  <a:lnTo>
                    <a:pt x="118192" y="85960"/>
                  </a:lnTo>
                  <a:lnTo>
                    <a:pt x="679" y="224123"/>
                  </a:lnTo>
                  <a:close/>
                </a:path>
                <a:path w="399415" h="240029">
                  <a:moveTo>
                    <a:pt x="396399" y="228627"/>
                  </a:moveTo>
                  <a:lnTo>
                    <a:pt x="280874" y="85960"/>
                  </a:lnTo>
                  <a:lnTo>
                    <a:pt x="398859" y="23053"/>
                  </a:lnTo>
                  <a:lnTo>
                    <a:pt x="398859" y="222404"/>
                  </a:lnTo>
                  <a:lnTo>
                    <a:pt x="397968" y="225725"/>
                  </a:lnTo>
                  <a:lnTo>
                    <a:pt x="396399" y="228627"/>
                  </a:lnTo>
                  <a:close/>
                </a:path>
                <a:path w="399415" h="240029">
                  <a:moveTo>
                    <a:pt x="378716" y="239402"/>
                  </a:moveTo>
                  <a:lnTo>
                    <a:pt x="18628" y="239402"/>
                  </a:lnTo>
                  <a:lnTo>
                    <a:pt x="16923" y="239167"/>
                  </a:lnTo>
                  <a:lnTo>
                    <a:pt x="15229" y="238716"/>
                  </a:lnTo>
                  <a:lnTo>
                    <a:pt x="136616" y="96276"/>
                  </a:lnTo>
                  <a:lnTo>
                    <a:pt x="196085" y="129623"/>
                  </a:lnTo>
                  <a:lnTo>
                    <a:pt x="197816" y="130060"/>
                  </a:lnTo>
                  <a:lnTo>
                    <a:pt x="289915" y="130060"/>
                  </a:lnTo>
                  <a:lnTo>
                    <a:pt x="378716" y="239402"/>
                  </a:lnTo>
                  <a:close/>
                </a:path>
                <a:path w="399415" h="240029">
                  <a:moveTo>
                    <a:pt x="289915" y="130060"/>
                  </a:moveTo>
                  <a:lnTo>
                    <a:pt x="201278" y="130060"/>
                  </a:lnTo>
                  <a:lnTo>
                    <a:pt x="203009" y="129623"/>
                  </a:lnTo>
                  <a:lnTo>
                    <a:pt x="262477" y="96276"/>
                  </a:lnTo>
                  <a:lnTo>
                    <a:pt x="289915" y="130060"/>
                  </a:lnTo>
                  <a:close/>
                </a:path>
              </a:pathLst>
            </a:custGeom>
            <a:solidFill>
              <a:srgbClr val="FFFFFF"/>
            </a:solidFill>
          </p:spPr>
          <p:txBody>
            <a:bodyPr wrap="square" lIns="0" tIns="0" rIns="0" bIns="0" rtlCol="0"/>
            <a:lstStyle/>
            <a:p>
              <a:endParaRPr/>
            </a:p>
          </p:txBody>
        </p:sp>
      </p:grpSp>
      <p:sp>
        <p:nvSpPr>
          <p:cNvPr id="10" name="object 10"/>
          <p:cNvSpPr txBox="1"/>
          <p:nvPr/>
        </p:nvSpPr>
        <p:spPr>
          <a:xfrm>
            <a:off x="275287" y="2281930"/>
            <a:ext cx="9848215" cy="6841168"/>
          </a:xfrm>
          <a:prstGeom prst="rect">
            <a:avLst/>
          </a:prstGeom>
        </p:spPr>
        <p:txBody>
          <a:bodyPr vert="horz" wrap="square" lIns="0" tIns="86995" rIns="0" bIns="0" rtlCol="0">
            <a:spAutoFit/>
          </a:bodyPr>
          <a:lstStyle/>
          <a:p>
            <a:pPr marL="12700" marR="5080" algn="just">
              <a:lnSpc>
                <a:spcPct val="115199"/>
              </a:lnSpc>
            </a:pPr>
            <a:r>
              <a:rPr lang="en-US" sz="2400" spc="-225" dirty="0">
                <a:latin typeface="Verdana"/>
                <a:cs typeface="Verdana"/>
              </a:rPr>
              <a:t>Elderly patients with multiple chronic conditions (diabetes, hypertension, arthritis) often see 4–5 different specialists. Currently, these specialists rarely communicate. The cardiologist prescribes a drug that might negatively interact with a drug prescribed by the nephrologist. The patient, often dealing with cognitive decline, struggles to manage 10+ medications daily. Family caregivers are left in the dark about the overall treatment plan. The "siloed" nature of current EHRs (Electronic Health Records) leads to polypharmacy issues, accidental overdoses, and poor health outcomes for the elderly. </a:t>
            </a:r>
          </a:p>
          <a:p>
            <a:pPr marL="12700" marR="5080" algn="just">
              <a:lnSpc>
                <a:spcPct val="115199"/>
              </a:lnSpc>
            </a:pPr>
            <a:endParaRPr lang="en-US" sz="2400" spc="-225" dirty="0">
              <a:latin typeface="Verdana"/>
              <a:cs typeface="Verdana"/>
            </a:endParaRPr>
          </a:p>
          <a:p>
            <a:pPr marL="12700" marR="5080" algn="just">
              <a:lnSpc>
                <a:spcPct val="115199"/>
              </a:lnSpc>
            </a:pPr>
            <a:r>
              <a:rPr lang="en-US" sz="2400" spc="-225" dirty="0">
                <a:latin typeface="Verdana"/>
                <a:cs typeface="Verdana"/>
                <a:sym typeface="Wingdings" panose="05000000000000000000" pitchFamily="2" charset="2"/>
              </a:rPr>
              <a:t> </a:t>
            </a:r>
            <a:r>
              <a:rPr lang="en-US" sz="2400" spc="-225" dirty="0">
                <a:latin typeface="Verdana"/>
                <a:cs typeface="Verdana"/>
              </a:rPr>
              <a:t>Most helplines still operate on a basic first-come, first-served model, without structured triage or intelligent prioritization.</a:t>
            </a:r>
          </a:p>
          <a:p>
            <a:pPr marL="12700" marR="5080" algn="just">
              <a:lnSpc>
                <a:spcPct val="115199"/>
              </a:lnSpc>
            </a:pPr>
            <a:r>
              <a:rPr lang="en-US" sz="2400" spc="-225" dirty="0">
                <a:latin typeface="Verdana"/>
                <a:cs typeface="Verdana"/>
                <a:sym typeface="Wingdings" panose="05000000000000000000" pitchFamily="2" charset="2"/>
              </a:rPr>
              <a:t> </a:t>
            </a:r>
            <a:r>
              <a:rPr lang="en-US" sz="2400" spc="-225" dirty="0">
                <a:latin typeface="Verdana"/>
                <a:cs typeface="Verdana"/>
              </a:rPr>
              <a:t>As a result, low-risk callers may be attended to before someone in acute crisis. Counselors also receive little or no background context before speaking with a user, which wastes valuable time on repeated intake questions.</a:t>
            </a:r>
          </a:p>
          <a:p>
            <a:pPr marL="12700" marR="5080" algn="just">
              <a:lnSpc>
                <a:spcPct val="115199"/>
              </a:lnSpc>
            </a:pPr>
            <a:r>
              <a:rPr lang="en-US" sz="2400" spc="-225" dirty="0">
                <a:latin typeface="Verdana"/>
                <a:cs typeface="Verdana"/>
                <a:sym typeface="Wingdings" panose="05000000000000000000" pitchFamily="2" charset="2"/>
              </a:rPr>
              <a:t> </a:t>
            </a:r>
            <a:r>
              <a:rPr lang="en-US" sz="2400" spc="-225" dirty="0">
                <a:latin typeface="Verdana"/>
                <a:cs typeface="Verdana"/>
              </a:rPr>
              <a:t>This creates an overloaded, inefficient, and unsafe system where high-risk individuals may be delayed, mismanaged, or overlooked.</a:t>
            </a:r>
            <a:endParaRPr sz="2400" dirty="0">
              <a:latin typeface="Verdana"/>
              <a:cs typeface="Verdana"/>
            </a:endParaRPr>
          </a:p>
        </p:txBody>
      </p:sp>
      <p:sp>
        <p:nvSpPr>
          <p:cNvPr id="12" name="object 12"/>
          <p:cNvSpPr txBox="1"/>
          <p:nvPr/>
        </p:nvSpPr>
        <p:spPr>
          <a:xfrm>
            <a:off x="7043125" y="9657009"/>
            <a:ext cx="4201795" cy="532130"/>
          </a:xfrm>
          <a:prstGeom prst="rect">
            <a:avLst/>
          </a:prstGeom>
        </p:spPr>
        <p:txBody>
          <a:bodyPr vert="horz" wrap="square" lIns="0" tIns="41275" rIns="0" bIns="0" rtlCol="0">
            <a:spAutoFit/>
          </a:bodyPr>
          <a:lstStyle/>
          <a:p>
            <a:pPr marL="12700">
              <a:lnSpc>
                <a:spcPct val="100000"/>
              </a:lnSpc>
              <a:spcBef>
                <a:spcPts val="325"/>
              </a:spcBef>
            </a:pPr>
            <a:r>
              <a:rPr sz="2900" spc="-114" dirty="0">
                <a:solidFill>
                  <a:srgbClr val="FFFFFF"/>
                </a:solidFill>
                <a:latin typeface="Arial Black"/>
                <a:cs typeface="Arial Black"/>
                <a:hlinkClick r:id="rId4"/>
              </a:rPr>
              <a:t>codingclub@sru.edu.in</a:t>
            </a:r>
            <a:endParaRPr sz="2900">
              <a:latin typeface="Arial Black"/>
              <a:cs typeface="Arial Black"/>
            </a:endParaRPr>
          </a:p>
        </p:txBody>
      </p:sp>
      <p:sp>
        <p:nvSpPr>
          <p:cNvPr id="11" name="object 11"/>
          <p:cNvSpPr txBox="1">
            <a:spLocks noGrp="1"/>
          </p:cNvSpPr>
          <p:nvPr>
            <p:ph type="title"/>
          </p:nvPr>
        </p:nvSpPr>
        <p:spPr>
          <a:prstGeom prst="rect">
            <a:avLst/>
          </a:prstGeom>
        </p:spPr>
        <p:txBody>
          <a:bodyPr vert="horz" wrap="square" lIns="0" tIns="12700" rIns="0" bIns="0" rtlCol="0">
            <a:spAutoFit/>
          </a:bodyPr>
          <a:lstStyle/>
          <a:p>
            <a:pPr marL="2776855">
              <a:lnSpc>
                <a:spcPct val="100000"/>
              </a:lnSpc>
              <a:spcBef>
                <a:spcPts val="100"/>
              </a:spcBef>
            </a:pPr>
            <a:r>
              <a:rPr spc="-280" dirty="0"/>
              <a:t>Problem</a:t>
            </a:r>
            <a:r>
              <a:rPr spc="-465" dirty="0"/>
              <a:t> </a:t>
            </a:r>
            <a:r>
              <a:rPr spc="-375" dirty="0"/>
              <a:t>Scenario</a:t>
            </a:r>
          </a:p>
        </p:txBody>
      </p:sp>
      <p:sp>
        <p:nvSpPr>
          <p:cNvPr id="13" name="TextBox 12">
            <a:extLst>
              <a:ext uri="{FF2B5EF4-FFF2-40B4-BE49-F238E27FC236}">
                <a16:creationId xmlns:a16="http://schemas.microsoft.com/office/drawing/2014/main" id="{58C6F8F2-55D5-29AC-B03F-4136B868BF09}"/>
              </a:ext>
            </a:extLst>
          </p:cNvPr>
          <p:cNvSpPr txBox="1"/>
          <p:nvPr/>
        </p:nvSpPr>
        <p:spPr>
          <a:xfrm>
            <a:off x="275287" y="1697155"/>
            <a:ext cx="5134913" cy="584775"/>
          </a:xfrm>
          <a:prstGeom prst="rect">
            <a:avLst/>
          </a:prstGeom>
          <a:noFill/>
        </p:spPr>
        <p:txBody>
          <a:bodyPr wrap="square" rtlCol="0">
            <a:spAutoFit/>
          </a:bodyPr>
          <a:lstStyle/>
          <a:p>
            <a:r>
              <a:rPr lang="en-US" sz="3200" b="1" u="sng" dirty="0"/>
              <a:t>The Real World Situation:</a:t>
            </a:r>
            <a:endParaRPr lang="en-IN" sz="3200" b="1" u="sng" dirty="0"/>
          </a:p>
        </p:txBody>
      </p:sp>
      <p:pic>
        <p:nvPicPr>
          <p:cNvPr id="16" name="Picture 15">
            <a:extLst>
              <a:ext uri="{FF2B5EF4-FFF2-40B4-BE49-F238E27FC236}">
                <a16:creationId xmlns:a16="http://schemas.microsoft.com/office/drawing/2014/main" id="{8A223BAD-A539-C237-2E16-103D8D83BAC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545489" y="2531971"/>
            <a:ext cx="7520725" cy="440288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42900" y="2294944"/>
            <a:ext cx="16990060" cy="3219279"/>
          </a:xfrm>
          <a:prstGeom prst="rect">
            <a:avLst/>
          </a:prstGeom>
        </p:spPr>
        <p:txBody>
          <a:bodyPr vert="horz" wrap="square" lIns="0" tIns="12065" rIns="0" bIns="0" rtlCol="0">
            <a:spAutoFit/>
          </a:bodyPr>
          <a:lstStyle/>
          <a:p>
            <a:pPr marL="12700" marR="5080">
              <a:lnSpc>
                <a:spcPct val="116100"/>
              </a:lnSpc>
              <a:spcBef>
                <a:spcPts val="95"/>
              </a:spcBef>
            </a:pPr>
            <a:r>
              <a:rPr lang="en-US" sz="3500" spc="-75" dirty="0">
                <a:latin typeface="Verdana"/>
                <a:cs typeface="Verdana"/>
                <a:sym typeface="Wingdings" panose="05000000000000000000" pitchFamily="2" charset="2"/>
              </a:rPr>
              <a:t></a:t>
            </a:r>
            <a:r>
              <a:rPr lang="en-US" sz="3600" b="1" dirty="0"/>
              <a:t>Lack of Communication Between Specialists</a:t>
            </a:r>
          </a:p>
          <a:p>
            <a:pPr marL="12700" marR="5080">
              <a:lnSpc>
                <a:spcPct val="116100"/>
              </a:lnSpc>
              <a:spcBef>
                <a:spcPts val="95"/>
              </a:spcBef>
            </a:pPr>
            <a:r>
              <a:rPr lang="en-US" sz="3500" spc="-75" dirty="0">
                <a:latin typeface="Verdana"/>
                <a:cs typeface="Verdana"/>
                <a:sym typeface="Wingdings" panose="05000000000000000000" pitchFamily="2" charset="2"/>
              </a:rPr>
              <a:t></a:t>
            </a:r>
            <a:r>
              <a:rPr lang="en-IN" sz="3600" dirty="0" err="1"/>
              <a:t>olypharmacy</a:t>
            </a:r>
            <a:r>
              <a:rPr lang="en-IN" sz="3600" dirty="0"/>
              <a:t> (Too Many Medications)</a:t>
            </a:r>
          </a:p>
          <a:p>
            <a:pPr marL="12700" marR="5080">
              <a:lnSpc>
                <a:spcPct val="116100"/>
              </a:lnSpc>
              <a:spcBef>
                <a:spcPts val="95"/>
              </a:spcBef>
            </a:pPr>
            <a:r>
              <a:rPr lang="en-US" sz="3500" spc="-75" dirty="0">
                <a:latin typeface="Verdana"/>
                <a:cs typeface="Verdana"/>
                <a:sym typeface="Wingdings" panose="05000000000000000000" pitchFamily="2" charset="2"/>
              </a:rPr>
              <a:t></a:t>
            </a:r>
            <a:r>
              <a:rPr lang="en-IN" sz="3600" dirty="0"/>
              <a:t>Cognitive decline affecting medication management</a:t>
            </a:r>
          </a:p>
          <a:p>
            <a:pPr marL="12700" marR="5080">
              <a:lnSpc>
                <a:spcPct val="116100"/>
              </a:lnSpc>
              <a:spcBef>
                <a:spcPts val="95"/>
              </a:spcBef>
            </a:pPr>
            <a:r>
              <a:rPr lang="en-US" sz="3500" spc="-75" dirty="0">
                <a:latin typeface="Verdana"/>
                <a:cs typeface="Verdana"/>
                <a:sym typeface="Wingdings" panose="05000000000000000000" pitchFamily="2" charset="2"/>
              </a:rPr>
              <a:t></a:t>
            </a:r>
            <a:r>
              <a:rPr lang="en-IN" sz="3600" dirty="0"/>
              <a:t>No real-time health monitoring</a:t>
            </a:r>
          </a:p>
          <a:p>
            <a:pPr marL="12700" marR="5080">
              <a:lnSpc>
                <a:spcPct val="116100"/>
              </a:lnSpc>
              <a:spcBef>
                <a:spcPts val="95"/>
              </a:spcBef>
            </a:pPr>
            <a:r>
              <a:rPr lang="en-US" sz="3500" spc="-75" dirty="0">
                <a:latin typeface="Verdana"/>
                <a:cs typeface="Verdana"/>
                <a:sym typeface="Wingdings" panose="05000000000000000000" pitchFamily="2" charset="2"/>
              </a:rPr>
              <a:t></a:t>
            </a:r>
            <a:r>
              <a:rPr lang="en-US" sz="3600" dirty="0"/>
              <a:t>Low patient engagement with technology</a:t>
            </a:r>
            <a:endParaRPr lang="en-US" sz="3500" dirty="0">
              <a:latin typeface="Verdana"/>
              <a:cs typeface="Verdana"/>
            </a:endParaRPr>
          </a:p>
        </p:txBody>
      </p:sp>
      <p:pic>
        <p:nvPicPr>
          <p:cNvPr id="7" name="object 7"/>
          <p:cNvPicPr/>
          <p:nvPr/>
        </p:nvPicPr>
        <p:blipFill>
          <a:blip r:embed="rId2" cstate="print"/>
          <a:stretch>
            <a:fillRect/>
          </a:stretch>
        </p:blipFill>
        <p:spPr>
          <a:xfrm>
            <a:off x="16551740" y="182681"/>
            <a:ext cx="1514474" cy="1514474"/>
          </a:xfrm>
          <a:prstGeom prst="rect">
            <a:avLst/>
          </a:prstGeom>
        </p:spPr>
      </p:pic>
      <p:sp>
        <p:nvSpPr>
          <p:cNvPr id="8" name="object 8"/>
          <p:cNvSpPr txBox="1">
            <a:spLocks noGrp="1"/>
          </p:cNvSpPr>
          <p:nvPr>
            <p:ph type="title"/>
          </p:nvPr>
        </p:nvSpPr>
        <p:spPr>
          <a:xfrm>
            <a:off x="3805336" y="660463"/>
            <a:ext cx="10827385" cy="787400"/>
          </a:xfrm>
          <a:prstGeom prst="rect">
            <a:avLst/>
          </a:prstGeom>
        </p:spPr>
        <p:txBody>
          <a:bodyPr vert="horz" wrap="square" lIns="0" tIns="12700" rIns="0" bIns="0" rtlCol="0">
            <a:spAutoFit/>
          </a:bodyPr>
          <a:lstStyle/>
          <a:p>
            <a:pPr marL="12700">
              <a:lnSpc>
                <a:spcPct val="100000"/>
              </a:lnSpc>
              <a:spcBef>
                <a:spcPts val="100"/>
              </a:spcBef>
            </a:pPr>
            <a:r>
              <a:rPr u="sng" spc="-254" dirty="0"/>
              <a:t>Current</a:t>
            </a:r>
            <a:r>
              <a:rPr u="sng" spc="-475" dirty="0"/>
              <a:t> </a:t>
            </a:r>
            <a:r>
              <a:rPr u="sng" spc="-360" dirty="0"/>
              <a:t>Pain</a:t>
            </a:r>
            <a:r>
              <a:rPr u="sng" spc="-475" dirty="0"/>
              <a:t> </a:t>
            </a:r>
            <a:r>
              <a:rPr u="sng" spc="-320" dirty="0"/>
              <a:t>Points</a:t>
            </a:r>
            <a:r>
              <a:rPr u="sng" spc="-470" dirty="0"/>
              <a:t> </a:t>
            </a:r>
            <a:r>
              <a:rPr u="sng" spc="-245" dirty="0"/>
              <a:t>(Why</a:t>
            </a:r>
            <a:r>
              <a:rPr u="sng" spc="-475" dirty="0"/>
              <a:t> </a:t>
            </a:r>
            <a:r>
              <a:rPr u="sng" spc="-185" dirty="0"/>
              <a:t>it</a:t>
            </a:r>
            <a:r>
              <a:rPr u="sng" spc="-470" dirty="0"/>
              <a:t> </a:t>
            </a:r>
            <a:r>
              <a:rPr u="sng" spc="-445" dirty="0"/>
              <a:t>Breaks)</a:t>
            </a:r>
          </a:p>
        </p:txBody>
      </p:sp>
      <p:pic>
        <p:nvPicPr>
          <p:cNvPr id="9" name="object 9"/>
          <p:cNvPicPr/>
          <p:nvPr/>
        </p:nvPicPr>
        <p:blipFill>
          <a:blip r:embed="rId3" cstate="print"/>
          <a:stretch>
            <a:fillRect/>
          </a:stretch>
        </p:blipFill>
        <p:spPr>
          <a:xfrm>
            <a:off x="244807" y="314380"/>
            <a:ext cx="1571624" cy="1078140"/>
          </a:xfrm>
          <a:prstGeom prst="rect">
            <a:avLst/>
          </a:prstGeom>
        </p:spPr>
      </p:pic>
      <p:grpSp>
        <p:nvGrpSpPr>
          <p:cNvPr id="10" name="object 10"/>
          <p:cNvGrpSpPr/>
          <p:nvPr/>
        </p:nvGrpSpPr>
        <p:grpSpPr>
          <a:xfrm>
            <a:off x="6347447" y="9626432"/>
            <a:ext cx="638175" cy="638175"/>
            <a:chOff x="6347447" y="9626432"/>
            <a:chExt cx="638175" cy="638175"/>
          </a:xfrm>
        </p:grpSpPr>
        <p:sp>
          <p:nvSpPr>
            <p:cNvPr id="11" name="object 11"/>
            <p:cNvSpPr/>
            <p:nvPr/>
          </p:nvSpPr>
          <p:spPr>
            <a:xfrm>
              <a:off x="6347447" y="9626432"/>
              <a:ext cx="638175" cy="638175"/>
            </a:xfrm>
            <a:custGeom>
              <a:avLst/>
              <a:gdLst/>
              <a:ahLst/>
              <a:cxnLst/>
              <a:rect l="l" t="t" r="r" b="b"/>
              <a:pathLst>
                <a:path w="638175" h="638175">
                  <a:moveTo>
                    <a:pt x="319087" y="638174"/>
                  </a:moveTo>
                  <a:lnTo>
                    <a:pt x="280025" y="635775"/>
                  </a:lnTo>
                  <a:lnTo>
                    <a:pt x="241555" y="628612"/>
                  </a:lnTo>
                  <a:lnTo>
                    <a:pt x="204251" y="616794"/>
                  </a:lnTo>
                  <a:lnTo>
                    <a:pt x="168670" y="600497"/>
                  </a:lnTo>
                  <a:lnTo>
                    <a:pt x="135352" y="579967"/>
                  </a:lnTo>
                  <a:lnTo>
                    <a:pt x="104801" y="555515"/>
                  </a:lnTo>
                  <a:lnTo>
                    <a:pt x="77473" y="527508"/>
                  </a:lnTo>
                  <a:lnTo>
                    <a:pt x="53775" y="496362"/>
                  </a:lnTo>
                  <a:lnTo>
                    <a:pt x="34069" y="462550"/>
                  </a:lnTo>
                  <a:lnTo>
                    <a:pt x="18652" y="426584"/>
                  </a:lnTo>
                  <a:lnTo>
                    <a:pt x="7753" y="389002"/>
                  </a:lnTo>
                  <a:lnTo>
                    <a:pt x="1536" y="350363"/>
                  </a:lnTo>
                  <a:lnTo>
                    <a:pt x="0" y="319087"/>
                  </a:lnTo>
                  <a:lnTo>
                    <a:pt x="96" y="311254"/>
                  </a:lnTo>
                  <a:lnTo>
                    <a:pt x="3453" y="272267"/>
                  </a:lnTo>
                  <a:lnTo>
                    <a:pt x="11557" y="233985"/>
                  </a:lnTo>
                  <a:lnTo>
                    <a:pt x="24289" y="196977"/>
                  </a:lnTo>
                  <a:lnTo>
                    <a:pt x="41454" y="161807"/>
                  </a:lnTo>
                  <a:lnTo>
                    <a:pt x="62793" y="129007"/>
                  </a:lnTo>
                  <a:lnTo>
                    <a:pt x="87987" y="99065"/>
                  </a:lnTo>
                  <a:lnTo>
                    <a:pt x="116660" y="72429"/>
                  </a:lnTo>
                  <a:lnTo>
                    <a:pt x="148378" y="49503"/>
                  </a:lnTo>
                  <a:lnTo>
                    <a:pt x="182659" y="30635"/>
                  </a:lnTo>
                  <a:lnTo>
                    <a:pt x="218993" y="16105"/>
                  </a:lnTo>
                  <a:lnTo>
                    <a:pt x="256836" y="6131"/>
                  </a:lnTo>
                  <a:lnTo>
                    <a:pt x="295616" y="864"/>
                  </a:lnTo>
                  <a:lnTo>
                    <a:pt x="319087" y="0"/>
                  </a:lnTo>
                  <a:lnTo>
                    <a:pt x="326920" y="96"/>
                  </a:lnTo>
                  <a:lnTo>
                    <a:pt x="365907" y="3453"/>
                  </a:lnTo>
                  <a:lnTo>
                    <a:pt x="404189" y="11557"/>
                  </a:lnTo>
                  <a:lnTo>
                    <a:pt x="441196" y="24289"/>
                  </a:lnTo>
                  <a:lnTo>
                    <a:pt x="476367" y="41454"/>
                  </a:lnTo>
                  <a:lnTo>
                    <a:pt x="509167" y="62793"/>
                  </a:lnTo>
                  <a:lnTo>
                    <a:pt x="539109" y="87987"/>
                  </a:lnTo>
                  <a:lnTo>
                    <a:pt x="565745" y="116660"/>
                  </a:lnTo>
                  <a:lnTo>
                    <a:pt x="588671" y="148378"/>
                  </a:lnTo>
                  <a:lnTo>
                    <a:pt x="607539" y="182659"/>
                  </a:lnTo>
                  <a:lnTo>
                    <a:pt x="622069" y="218993"/>
                  </a:lnTo>
                  <a:lnTo>
                    <a:pt x="632043" y="256836"/>
                  </a:lnTo>
                  <a:lnTo>
                    <a:pt x="637310" y="295616"/>
                  </a:lnTo>
                  <a:lnTo>
                    <a:pt x="638174" y="319087"/>
                  </a:lnTo>
                  <a:lnTo>
                    <a:pt x="638078" y="326920"/>
                  </a:lnTo>
                  <a:lnTo>
                    <a:pt x="634721" y="365907"/>
                  </a:lnTo>
                  <a:lnTo>
                    <a:pt x="626617" y="404189"/>
                  </a:lnTo>
                  <a:lnTo>
                    <a:pt x="613885" y="441196"/>
                  </a:lnTo>
                  <a:lnTo>
                    <a:pt x="596720" y="476367"/>
                  </a:lnTo>
                  <a:lnTo>
                    <a:pt x="575381" y="509167"/>
                  </a:lnTo>
                  <a:lnTo>
                    <a:pt x="550187" y="539109"/>
                  </a:lnTo>
                  <a:lnTo>
                    <a:pt x="521514" y="565745"/>
                  </a:lnTo>
                  <a:lnTo>
                    <a:pt x="489796" y="588671"/>
                  </a:lnTo>
                  <a:lnTo>
                    <a:pt x="455515" y="607539"/>
                  </a:lnTo>
                  <a:lnTo>
                    <a:pt x="419181" y="622069"/>
                  </a:lnTo>
                  <a:lnTo>
                    <a:pt x="381338" y="632043"/>
                  </a:lnTo>
                  <a:lnTo>
                    <a:pt x="342558" y="637310"/>
                  </a:lnTo>
                  <a:lnTo>
                    <a:pt x="319087" y="638174"/>
                  </a:lnTo>
                  <a:close/>
                </a:path>
              </a:pathLst>
            </a:custGeom>
            <a:solidFill>
              <a:srgbClr val="000000"/>
            </a:solidFill>
          </p:spPr>
          <p:txBody>
            <a:bodyPr wrap="square" lIns="0" tIns="0" rIns="0" bIns="0" rtlCol="0"/>
            <a:lstStyle/>
            <a:p>
              <a:endParaRPr/>
            </a:p>
          </p:txBody>
        </p:sp>
        <p:sp>
          <p:nvSpPr>
            <p:cNvPr id="12" name="object 12"/>
            <p:cNvSpPr/>
            <p:nvPr/>
          </p:nvSpPr>
          <p:spPr>
            <a:xfrm>
              <a:off x="6466160" y="9825813"/>
              <a:ext cx="399415" cy="240029"/>
            </a:xfrm>
            <a:custGeom>
              <a:avLst/>
              <a:gdLst/>
              <a:ahLst/>
              <a:cxnLst/>
              <a:rect l="l" t="t" r="r" b="b"/>
              <a:pathLst>
                <a:path w="399415" h="240029">
                  <a:moveTo>
                    <a:pt x="199546" y="108022"/>
                  </a:moveTo>
                  <a:lnTo>
                    <a:pt x="9218" y="3402"/>
                  </a:lnTo>
                  <a:lnTo>
                    <a:pt x="12464" y="1254"/>
                  </a:lnTo>
                  <a:lnTo>
                    <a:pt x="16353" y="0"/>
                  </a:lnTo>
                  <a:lnTo>
                    <a:pt x="383012" y="0"/>
                  </a:lnTo>
                  <a:lnTo>
                    <a:pt x="387333" y="1576"/>
                  </a:lnTo>
                  <a:lnTo>
                    <a:pt x="390791" y="4223"/>
                  </a:lnTo>
                  <a:lnTo>
                    <a:pt x="199546" y="108022"/>
                  </a:lnTo>
                  <a:close/>
                </a:path>
                <a:path w="399415" h="240029">
                  <a:moveTo>
                    <a:pt x="679" y="224123"/>
                  </a:moveTo>
                  <a:lnTo>
                    <a:pt x="231" y="222404"/>
                  </a:lnTo>
                  <a:lnTo>
                    <a:pt x="0" y="220689"/>
                  </a:lnTo>
                  <a:lnTo>
                    <a:pt x="0" y="21645"/>
                  </a:lnTo>
                  <a:lnTo>
                    <a:pt x="118192" y="85960"/>
                  </a:lnTo>
                  <a:lnTo>
                    <a:pt x="679" y="224123"/>
                  </a:lnTo>
                  <a:close/>
                </a:path>
                <a:path w="399415" h="240029">
                  <a:moveTo>
                    <a:pt x="396399" y="228627"/>
                  </a:moveTo>
                  <a:lnTo>
                    <a:pt x="280874" y="85960"/>
                  </a:lnTo>
                  <a:lnTo>
                    <a:pt x="398859" y="23053"/>
                  </a:lnTo>
                  <a:lnTo>
                    <a:pt x="398859" y="222404"/>
                  </a:lnTo>
                  <a:lnTo>
                    <a:pt x="397968" y="225725"/>
                  </a:lnTo>
                  <a:lnTo>
                    <a:pt x="396399" y="228627"/>
                  </a:lnTo>
                  <a:close/>
                </a:path>
                <a:path w="399415" h="240029">
                  <a:moveTo>
                    <a:pt x="378716" y="239402"/>
                  </a:moveTo>
                  <a:lnTo>
                    <a:pt x="18628" y="239402"/>
                  </a:lnTo>
                  <a:lnTo>
                    <a:pt x="16923" y="239167"/>
                  </a:lnTo>
                  <a:lnTo>
                    <a:pt x="15229" y="238716"/>
                  </a:lnTo>
                  <a:lnTo>
                    <a:pt x="136616" y="96276"/>
                  </a:lnTo>
                  <a:lnTo>
                    <a:pt x="196085" y="129623"/>
                  </a:lnTo>
                  <a:lnTo>
                    <a:pt x="197816" y="130060"/>
                  </a:lnTo>
                  <a:lnTo>
                    <a:pt x="289915" y="130060"/>
                  </a:lnTo>
                  <a:lnTo>
                    <a:pt x="378716" y="239402"/>
                  </a:lnTo>
                  <a:close/>
                </a:path>
                <a:path w="399415" h="240029">
                  <a:moveTo>
                    <a:pt x="289915" y="130060"/>
                  </a:moveTo>
                  <a:lnTo>
                    <a:pt x="201278" y="130060"/>
                  </a:lnTo>
                  <a:lnTo>
                    <a:pt x="203009" y="129623"/>
                  </a:lnTo>
                  <a:lnTo>
                    <a:pt x="262477" y="96276"/>
                  </a:lnTo>
                  <a:lnTo>
                    <a:pt x="289915" y="130060"/>
                  </a:lnTo>
                  <a:close/>
                </a:path>
              </a:pathLst>
            </a:custGeom>
            <a:solidFill>
              <a:srgbClr val="FFFFFF"/>
            </a:solidFill>
          </p:spPr>
          <p:txBody>
            <a:bodyPr wrap="square" lIns="0" tIns="0" rIns="0" bIns="0" rtlCol="0"/>
            <a:lstStyle/>
            <a:p>
              <a:endParaRPr/>
            </a:p>
          </p:txBody>
        </p:sp>
      </p:grpSp>
      <p:sp>
        <p:nvSpPr>
          <p:cNvPr id="13" name="object 13"/>
          <p:cNvSpPr txBox="1"/>
          <p:nvPr/>
        </p:nvSpPr>
        <p:spPr>
          <a:xfrm>
            <a:off x="7043125" y="9657009"/>
            <a:ext cx="4201795" cy="532130"/>
          </a:xfrm>
          <a:prstGeom prst="rect">
            <a:avLst/>
          </a:prstGeom>
        </p:spPr>
        <p:txBody>
          <a:bodyPr vert="horz" wrap="square" lIns="0" tIns="41275" rIns="0" bIns="0" rtlCol="0">
            <a:spAutoFit/>
          </a:bodyPr>
          <a:lstStyle/>
          <a:p>
            <a:pPr marL="12700">
              <a:lnSpc>
                <a:spcPct val="100000"/>
              </a:lnSpc>
              <a:spcBef>
                <a:spcPts val="325"/>
              </a:spcBef>
            </a:pPr>
            <a:r>
              <a:rPr sz="2900" spc="-114" dirty="0">
                <a:solidFill>
                  <a:srgbClr val="FFFFFF"/>
                </a:solidFill>
                <a:latin typeface="Arial Black"/>
                <a:cs typeface="Arial Black"/>
                <a:hlinkClick r:id="rId4"/>
              </a:rPr>
              <a:t>codingclub@sru.edu.in</a:t>
            </a:r>
            <a:endParaRPr sz="2900">
              <a:latin typeface="Arial Black"/>
              <a:cs typeface="Arial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9568238"/>
            <a:ext cx="18288000" cy="718820"/>
            <a:chOff x="0" y="9568238"/>
            <a:chExt cx="18288000" cy="718820"/>
          </a:xfrm>
        </p:grpSpPr>
        <p:sp>
          <p:nvSpPr>
            <p:cNvPr id="3" name="object 3"/>
            <p:cNvSpPr/>
            <p:nvPr/>
          </p:nvSpPr>
          <p:spPr>
            <a:xfrm>
              <a:off x="6347447" y="9626432"/>
              <a:ext cx="638175" cy="638175"/>
            </a:xfrm>
            <a:custGeom>
              <a:avLst/>
              <a:gdLst/>
              <a:ahLst/>
              <a:cxnLst/>
              <a:rect l="l" t="t" r="r" b="b"/>
              <a:pathLst>
                <a:path w="638175" h="638175">
                  <a:moveTo>
                    <a:pt x="319087" y="638174"/>
                  </a:moveTo>
                  <a:lnTo>
                    <a:pt x="280025" y="635775"/>
                  </a:lnTo>
                  <a:lnTo>
                    <a:pt x="241555" y="628612"/>
                  </a:lnTo>
                  <a:lnTo>
                    <a:pt x="204251" y="616794"/>
                  </a:lnTo>
                  <a:lnTo>
                    <a:pt x="168670" y="600497"/>
                  </a:lnTo>
                  <a:lnTo>
                    <a:pt x="135352" y="579967"/>
                  </a:lnTo>
                  <a:lnTo>
                    <a:pt x="104801" y="555515"/>
                  </a:lnTo>
                  <a:lnTo>
                    <a:pt x="77473" y="527508"/>
                  </a:lnTo>
                  <a:lnTo>
                    <a:pt x="53775" y="496362"/>
                  </a:lnTo>
                  <a:lnTo>
                    <a:pt x="34069" y="462550"/>
                  </a:lnTo>
                  <a:lnTo>
                    <a:pt x="18652" y="426584"/>
                  </a:lnTo>
                  <a:lnTo>
                    <a:pt x="7753" y="389002"/>
                  </a:lnTo>
                  <a:lnTo>
                    <a:pt x="1536" y="350363"/>
                  </a:lnTo>
                  <a:lnTo>
                    <a:pt x="0" y="319087"/>
                  </a:lnTo>
                  <a:lnTo>
                    <a:pt x="96" y="311254"/>
                  </a:lnTo>
                  <a:lnTo>
                    <a:pt x="3453" y="272267"/>
                  </a:lnTo>
                  <a:lnTo>
                    <a:pt x="11557" y="233985"/>
                  </a:lnTo>
                  <a:lnTo>
                    <a:pt x="24289" y="196977"/>
                  </a:lnTo>
                  <a:lnTo>
                    <a:pt x="41454" y="161807"/>
                  </a:lnTo>
                  <a:lnTo>
                    <a:pt x="62793" y="129007"/>
                  </a:lnTo>
                  <a:lnTo>
                    <a:pt x="87987" y="99065"/>
                  </a:lnTo>
                  <a:lnTo>
                    <a:pt x="116660" y="72429"/>
                  </a:lnTo>
                  <a:lnTo>
                    <a:pt x="148378" y="49503"/>
                  </a:lnTo>
                  <a:lnTo>
                    <a:pt x="182659" y="30635"/>
                  </a:lnTo>
                  <a:lnTo>
                    <a:pt x="218993" y="16105"/>
                  </a:lnTo>
                  <a:lnTo>
                    <a:pt x="256836" y="6131"/>
                  </a:lnTo>
                  <a:lnTo>
                    <a:pt x="295616" y="864"/>
                  </a:lnTo>
                  <a:lnTo>
                    <a:pt x="319087" y="0"/>
                  </a:lnTo>
                  <a:lnTo>
                    <a:pt x="326920" y="96"/>
                  </a:lnTo>
                  <a:lnTo>
                    <a:pt x="365907" y="3453"/>
                  </a:lnTo>
                  <a:lnTo>
                    <a:pt x="404189" y="11557"/>
                  </a:lnTo>
                  <a:lnTo>
                    <a:pt x="441196" y="24289"/>
                  </a:lnTo>
                  <a:lnTo>
                    <a:pt x="476367" y="41454"/>
                  </a:lnTo>
                  <a:lnTo>
                    <a:pt x="509167" y="62793"/>
                  </a:lnTo>
                  <a:lnTo>
                    <a:pt x="539109" y="87987"/>
                  </a:lnTo>
                  <a:lnTo>
                    <a:pt x="565745" y="116660"/>
                  </a:lnTo>
                  <a:lnTo>
                    <a:pt x="588671" y="148378"/>
                  </a:lnTo>
                  <a:lnTo>
                    <a:pt x="607539" y="182659"/>
                  </a:lnTo>
                  <a:lnTo>
                    <a:pt x="622069" y="218993"/>
                  </a:lnTo>
                  <a:lnTo>
                    <a:pt x="632043" y="256836"/>
                  </a:lnTo>
                  <a:lnTo>
                    <a:pt x="637310" y="295616"/>
                  </a:lnTo>
                  <a:lnTo>
                    <a:pt x="638174" y="319087"/>
                  </a:lnTo>
                  <a:lnTo>
                    <a:pt x="638078" y="326920"/>
                  </a:lnTo>
                  <a:lnTo>
                    <a:pt x="634721" y="365907"/>
                  </a:lnTo>
                  <a:lnTo>
                    <a:pt x="626617" y="404189"/>
                  </a:lnTo>
                  <a:lnTo>
                    <a:pt x="613885" y="441196"/>
                  </a:lnTo>
                  <a:lnTo>
                    <a:pt x="596720" y="476367"/>
                  </a:lnTo>
                  <a:lnTo>
                    <a:pt x="575381" y="509167"/>
                  </a:lnTo>
                  <a:lnTo>
                    <a:pt x="550187" y="539109"/>
                  </a:lnTo>
                  <a:lnTo>
                    <a:pt x="521514" y="565745"/>
                  </a:lnTo>
                  <a:lnTo>
                    <a:pt x="489796" y="588671"/>
                  </a:lnTo>
                  <a:lnTo>
                    <a:pt x="455515" y="607539"/>
                  </a:lnTo>
                  <a:lnTo>
                    <a:pt x="419181" y="622069"/>
                  </a:lnTo>
                  <a:lnTo>
                    <a:pt x="381338" y="632043"/>
                  </a:lnTo>
                  <a:lnTo>
                    <a:pt x="342558" y="637310"/>
                  </a:lnTo>
                  <a:lnTo>
                    <a:pt x="319087" y="638174"/>
                  </a:lnTo>
                  <a:close/>
                </a:path>
              </a:pathLst>
            </a:custGeom>
            <a:solidFill>
              <a:srgbClr val="000000"/>
            </a:solidFill>
          </p:spPr>
          <p:txBody>
            <a:bodyPr wrap="square" lIns="0" tIns="0" rIns="0" bIns="0" rtlCol="0"/>
            <a:lstStyle/>
            <a:p>
              <a:endParaRPr/>
            </a:p>
          </p:txBody>
        </p:sp>
        <p:sp>
          <p:nvSpPr>
            <p:cNvPr id="4" name="object 4"/>
            <p:cNvSpPr/>
            <p:nvPr/>
          </p:nvSpPr>
          <p:spPr>
            <a:xfrm>
              <a:off x="6466160" y="9825814"/>
              <a:ext cx="399415" cy="240029"/>
            </a:xfrm>
            <a:custGeom>
              <a:avLst/>
              <a:gdLst/>
              <a:ahLst/>
              <a:cxnLst/>
              <a:rect l="l" t="t" r="r" b="b"/>
              <a:pathLst>
                <a:path w="399415" h="240029">
                  <a:moveTo>
                    <a:pt x="199546" y="108022"/>
                  </a:moveTo>
                  <a:lnTo>
                    <a:pt x="9218" y="3402"/>
                  </a:lnTo>
                  <a:lnTo>
                    <a:pt x="12464" y="1254"/>
                  </a:lnTo>
                  <a:lnTo>
                    <a:pt x="16353" y="0"/>
                  </a:lnTo>
                  <a:lnTo>
                    <a:pt x="383012" y="0"/>
                  </a:lnTo>
                  <a:lnTo>
                    <a:pt x="387333" y="1576"/>
                  </a:lnTo>
                  <a:lnTo>
                    <a:pt x="390791" y="4223"/>
                  </a:lnTo>
                  <a:lnTo>
                    <a:pt x="199546" y="108022"/>
                  </a:lnTo>
                  <a:close/>
                </a:path>
                <a:path w="399415" h="240029">
                  <a:moveTo>
                    <a:pt x="679" y="224123"/>
                  </a:moveTo>
                  <a:lnTo>
                    <a:pt x="231" y="222404"/>
                  </a:lnTo>
                  <a:lnTo>
                    <a:pt x="0" y="220689"/>
                  </a:lnTo>
                  <a:lnTo>
                    <a:pt x="0" y="21645"/>
                  </a:lnTo>
                  <a:lnTo>
                    <a:pt x="118192" y="85960"/>
                  </a:lnTo>
                  <a:lnTo>
                    <a:pt x="679" y="224123"/>
                  </a:lnTo>
                  <a:close/>
                </a:path>
                <a:path w="399415" h="240029">
                  <a:moveTo>
                    <a:pt x="396399" y="228627"/>
                  </a:moveTo>
                  <a:lnTo>
                    <a:pt x="280874" y="85960"/>
                  </a:lnTo>
                  <a:lnTo>
                    <a:pt x="398859" y="23053"/>
                  </a:lnTo>
                  <a:lnTo>
                    <a:pt x="398859" y="222404"/>
                  </a:lnTo>
                  <a:lnTo>
                    <a:pt x="397968" y="225725"/>
                  </a:lnTo>
                  <a:lnTo>
                    <a:pt x="396399" y="228627"/>
                  </a:lnTo>
                  <a:close/>
                </a:path>
                <a:path w="399415" h="240029">
                  <a:moveTo>
                    <a:pt x="378716" y="239402"/>
                  </a:moveTo>
                  <a:lnTo>
                    <a:pt x="18628" y="239402"/>
                  </a:lnTo>
                  <a:lnTo>
                    <a:pt x="16923" y="239167"/>
                  </a:lnTo>
                  <a:lnTo>
                    <a:pt x="15229" y="238716"/>
                  </a:lnTo>
                  <a:lnTo>
                    <a:pt x="136616" y="96276"/>
                  </a:lnTo>
                  <a:lnTo>
                    <a:pt x="196085" y="129623"/>
                  </a:lnTo>
                  <a:lnTo>
                    <a:pt x="197816" y="130060"/>
                  </a:lnTo>
                  <a:lnTo>
                    <a:pt x="289915" y="130060"/>
                  </a:lnTo>
                  <a:lnTo>
                    <a:pt x="378716" y="239402"/>
                  </a:lnTo>
                  <a:close/>
                </a:path>
                <a:path w="399415" h="240029">
                  <a:moveTo>
                    <a:pt x="289915" y="130060"/>
                  </a:moveTo>
                  <a:lnTo>
                    <a:pt x="201278" y="130060"/>
                  </a:lnTo>
                  <a:lnTo>
                    <a:pt x="203009" y="129623"/>
                  </a:lnTo>
                  <a:lnTo>
                    <a:pt x="262477" y="96276"/>
                  </a:lnTo>
                  <a:lnTo>
                    <a:pt x="289915" y="130060"/>
                  </a:lnTo>
                  <a:close/>
                </a:path>
              </a:pathLst>
            </a:custGeom>
            <a:solidFill>
              <a:srgbClr val="FFFFFF"/>
            </a:solidFill>
          </p:spPr>
          <p:txBody>
            <a:bodyPr wrap="square" lIns="0" tIns="0" rIns="0" bIns="0" rtlCol="0"/>
            <a:lstStyle/>
            <a:p>
              <a:endParaRPr/>
            </a:p>
          </p:txBody>
        </p:sp>
      </p:grpSp>
      <p:sp>
        <p:nvSpPr>
          <p:cNvPr id="9" name="object 9"/>
          <p:cNvSpPr txBox="1"/>
          <p:nvPr/>
        </p:nvSpPr>
        <p:spPr>
          <a:xfrm>
            <a:off x="1371600" y="1651327"/>
            <a:ext cx="17526000" cy="5188087"/>
          </a:xfrm>
          <a:prstGeom prst="rect">
            <a:avLst/>
          </a:prstGeom>
        </p:spPr>
        <p:txBody>
          <a:bodyPr vert="horz" wrap="square" lIns="0" tIns="98425" rIns="0" bIns="0" rtlCol="0">
            <a:spAutoFit/>
          </a:bodyPr>
          <a:lstStyle/>
          <a:p>
            <a:pPr marL="272415" marR="3246120">
              <a:lnSpc>
                <a:spcPts val="4880"/>
              </a:lnSpc>
              <a:spcBef>
                <a:spcPts val="270"/>
              </a:spcBef>
            </a:pPr>
            <a:r>
              <a:rPr lang="en-US" sz="3500" b="1" u="sng" spc="-150" dirty="0">
                <a:latin typeface="Verdana"/>
                <a:cs typeface="Verdana"/>
              </a:rPr>
              <a:t>Primary Objective:</a:t>
            </a:r>
          </a:p>
          <a:p>
            <a:pPr marL="843915" marR="3246120" indent="-571500">
              <a:lnSpc>
                <a:spcPts val="4880"/>
              </a:lnSpc>
              <a:spcBef>
                <a:spcPts val="270"/>
              </a:spcBef>
              <a:buFont typeface="Wingdings" panose="05000000000000000000" pitchFamily="2" charset="2"/>
              <a:buChar char="q"/>
            </a:pPr>
            <a:r>
              <a:rPr lang="en-US" sz="3600" dirty="0"/>
              <a:t>Create a centralized, user-friendly system that connects specialists, manages medications, and ensures safe, coordinated care for elderly patients.</a:t>
            </a:r>
          </a:p>
          <a:p>
            <a:pPr marL="272415" marR="3246120">
              <a:lnSpc>
                <a:spcPts val="4880"/>
              </a:lnSpc>
              <a:spcBef>
                <a:spcPts val="270"/>
              </a:spcBef>
            </a:pPr>
            <a:r>
              <a:rPr lang="en-US" sz="3500" b="1" u="sng" spc="-150" dirty="0">
                <a:latin typeface="Verdana"/>
                <a:cs typeface="Verdana"/>
              </a:rPr>
              <a:t>Success Criteria:</a:t>
            </a:r>
            <a:endParaRPr lang="en-US" sz="3500" b="1" u="sng" spc="-415" dirty="0">
              <a:latin typeface="Verdana"/>
              <a:cs typeface="Verdana"/>
            </a:endParaRPr>
          </a:p>
          <a:p>
            <a:pPr marL="843915" marR="3246120" indent="-571500">
              <a:lnSpc>
                <a:spcPts val="4880"/>
              </a:lnSpc>
              <a:spcBef>
                <a:spcPts val="270"/>
              </a:spcBef>
              <a:buFont typeface="Wingdings" panose="05000000000000000000" pitchFamily="2" charset="2"/>
              <a:buChar char="q"/>
            </a:pPr>
            <a:r>
              <a:rPr lang="en-US" sz="3600" dirty="0"/>
              <a:t>Reduced medication errors and improved health outcomes through better communication, real-time alerts, and higher patient adherence.</a:t>
            </a:r>
            <a:endParaRPr lang="en-US" sz="3500" dirty="0">
              <a:latin typeface="Verdana"/>
              <a:cs typeface="Verdana"/>
            </a:endParaRPr>
          </a:p>
        </p:txBody>
      </p:sp>
      <p:pic>
        <p:nvPicPr>
          <p:cNvPr id="10" name="object 10"/>
          <p:cNvPicPr/>
          <p:nvPr/>
        </p:nvPicPr>
        <p:blipFill>
          <a:blip r:embed="rId2" cstate="print"/>
          <a:stretch>
            <a:fillRect/>
          </a:stretch>
        </p:blipFill>
        <p:spPr>
          <a:xfrm>
            <a:off x="16551740" y="182681"/>
            <a:ext cx="1514474" cy="1514474"/>
          </a:xfrm>
          <a:prstGeom prst="rect">
            <a:avLst/>
          </a:prstGeom>
        </p:spPr>
      </p:pic>
      <p:sp>
        <p:nvSpPr>
          <p:cNvPr id="11" name="object 11"/>
          <p:cNvSpPr txBox="1">
            <a:spLocks noGrp="1"/>
          </p:cNvSpPr>
          <p:nvPr>
            <p:ph type="title"/>
          </p:nvPr>
        </p:nvSpPr>
        <p:spPr>
          <a:xfrm>
            <a:off x="3689276" y="459750"/>
            <a:ext cx="10909448" cy="787400"/>
          </a:xfrm>
          <a:prstGeom prst="rect">
            <a:avLst/>
          </a:prstGeom>
        </p:spPr>
        <p:txBody>
          <a:bodyPr vert="horz" wrap="square" lIns="0" tIns="12700" rIns="0" bIns="0" rtlCol="0">
            <a:spAutoFit/>
          </a:bodyPr>
          <a:lstStyle/>
          <a:p>
            <a:pPr marL="945515">
              <a:lnSpc>
                <a:spcPct val="100000"/>
              </a:lnSpc>
              <a:spcBef>
                <a:spcPts val="100"/>
              </a:spcBef>
            </a:pPr>
            <a:r>
              <a:rPr u="sng" spc="-330" dirty="0"/>
              <a:t>Objectives</a:t>
            </a:r>
            <a:r>
              <a:rPr u="sng" spc="-484" dirty="0"/>
              <a:t> </a:t>
            </a:r>
            <a:r>
              <a:rPr u="sng" spc="-1160" dirty="0"/>
              <a:t>&amp;</a:t>
            </a:r>
            <a:r>
              <a:rPr u="sng" spc="-484" dirty="0"/>
              <a:t> </a:t>
            </a:r>
            <a:r>
              <a:rPr u="sng" spc="-509" dirty="0"/>
              <a:t>Success</a:t>
            </a:r>
            <a:r>
              <a:rPr u="sng" spc="-480" dirty="0"/>
              <a:t> </a:t>
            </a:r>
            <a:r>
              <a:rPr u="sng" spc="-290" dirty="0"/>
              <a:t>Criteria</a:t>
            </a:r>
          </a:p>
        </p:txBody>
      </p:sp>
      <p:pic>
        <p:nvPicPr>
          <p:cNvPr id="12" name="object 12"/>
          <p:cNvPicPr/>
          <p:nvPr/>
        </p:nvPicPr>
        <p:blipFill>
          <a:blip r:embed="rId3" cstate="print"/>
          <a:stretch>
            <a:fillRect/>
          </a:stretch>
        </p:blipFill>
        <p:spPr>
          <a:xfrm>
            <a:off x="244807" y="314380"/>
            <a:ext cx="1571624" cy="1078140"/>
          </a:xfrm>
          <a:prstGeom prst="rect">
            <a:avLst/>
          </a:prstGeom>
        </p:spPr>
      </p:pic>
      <p:sp>
        <p:nvSpPr>
          <p:cNvPr id="13" name="object 13"/>
          <p:cNvSpPr txBox="1"/>
          <p:nvPr/>
        </p:nvSpPr>
        <p:spPr>
          <a:xfrm>
            <a:off x="7043125" y="9657009"/>
            <a:ext cx="4201795" cy="532130"/>
          </a:xfrm>
          <a:prstGeom prst="rect">
            <a:avLst/>
          </a:prstGeom>
        </p:spPr>
        <p:txBody>
          <a:bodyPr vert="horz" wrap="square" lIns="0" tIns="41275" rIns="0" bIns="0" rtlCol="0">
            <a:spAutoFit/>
          </a:bodyPr>
          <a:lstStyle/>
          <a:p>
            <a:pPr marL="12700">
              <a:lnSpc>
                <a:spcPct val="100000"/>
              </a:lnSpc>
              <a:spcBef>
                <a:spcPts val="325"/>
              </a:spcBef>
            </a:pPr>
            <a:r>
              <a:rPr sz="2900" spc="-114" dirty="0">
                <a:solidFill>
                  <a:srgbClr val="FFFFFF"/>
                </a:solidFill>
                <a:latin typeface="Arial Black"/>
                <a:cs typeface="Arial Black"/>
                <a:hlinkClick r:id="rId4"/>
              </a:rPr>
              <a:t>codingclub@sru.edu.in</a:t>
            </a:r>
            <a:endParaRPr sz="2900">
              <a:latin typeface="Arial Black"/>
              <a:cs typeface="Arial Black"/>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9568238"/>
            <a:ext cx="18288000" cy="718820"/>
            <a:chOff x="0" y="9568238"/>
            <a:chExt cx="18288000" cy="718820"/>
          </a:xfrm>
        </p:grpSpPr>
        <p:sp>
          <p:nvSpPr>
            <p:cNvPr id="3" name="object 3"/>
            <p:cNvSpPr/>
            <p:nvPr/>
          </p:nvSpPr>
          <p:spPr>
            <a:xfrm>
              <a:off x="6347447" y="9626432"/>
              <a:ext cx="638175" cy="638175"/>
            </a:xfrm>
            <a:custGeom>
              <a:avLst/>
              <a:gdLst/>
              <a:ahLst/>
              <a:cxnLst/>
              <a:rect l="l" t="t" r="r" b="b"/>
              <a:pathLst>
                <a:path w="638175" h="638175">
                  <a:moveTo>
                    <a:pt x="319087" y="638174"/>
                  </a:moveTo>
                  <a:lnTo>
                    <a:pt x="280025" y="635775"/>
                  </a:lnTo>
                  <a:lnTo>
                    <a:pt x="241555" y="628612"/>
                  </a:lnTo>
                  <a:lnTo>
                    <a:pt x="204251" y="616794"/>
                  </a:lnTo>
                  <a:lnTo>
                    <a:pt x="168670" y="600497"/>
                  </a:lnTo>
                  <a:lnTo>
                    <a:pt x="135352" y="579967"/>
                  </a:lnTo>
                  <a:lnTo>
                    <a:pt x="104801" y="555515"/>
                  </a:lnTo>
                  <a:lnTo>
                    <a:pt x="77473" y="527508"/>
                  </a:lnTo>
                  <a:lnTo>
                    <a:pt x="53775" y="496362"/>
                  </a:lnTo>
                  <a:lnTo>
                    <a:pt x="34069" y="462550"/>
                  </a:lnTo>
                  <a:lnTo>
                    <a:pt x="18652" y="426584"/>
                  </a:lnTo>
                  <a:lnTo>
                    <a:pt x="7753" y="389002"/>
                  </a:lnTo>
                  <a:lnTo>
                    <a:pt x="1536" y="350363"/>
                  </a:lnTo>
                  <a:lnTo>
                    <a:pt x="0" y="319087"/>
                  </a:lnTo>
                  <a:lnTo>
                    <a:pt x="96" y="311254"/>
                  </a:lnTo>
                  <a:lnTo>
                    <a:pt x="3453" y="272267"/>
                  </a:lnTo>
                  <a:lnTo>
                    <a:pt x="11557" y="233985"/>
                  </a:lnTo>
                  <a:lnTo>
                    <a:pt x="24289" y="196977"/>
                  </a:lnTo>
                  <a:lnTo>
                    <a:pt x="41454" y="161807"/>
                  </a:lnTo>
                  <a:lnTo>
                    <a:pt x="62793" y="129007"/>
                  </a:lnTo>
                  <a:lnTo>
                    <a:pt x="87987" y="99065"/>
                  </a:lnTo>
                  <a:lnTo>
                    <a:pt x="116660" y="72429"/>
                  </a:lnTo>
                  <a:lnTo>
                    <a:pt x="148378" y="49503"/>
                  </a:lnTo>
                  <a:lnTo>
                    <a:pt x="182659" y="30635"/>
                  </a:lnTo>
                  <a:lnTo>
                    <a:pt x="218993" y="16105"/>
                  </a:lnTo>
                  <a:lnTo>
                    <a:pt x="256836" y="6131"/>
                  </a:lnTo>
                  <a:lnTo>
                    <a:pt x="295616" y="864"/>
                  </a:lnTo>
                  <a:lnTo>
                    <a:pt x="319087" y="0"/>
                  </a:lnTo>
                  <a:lnTo>
                    <a:pt x="326920" y="96"/>
                  </a:lnTo>
                  <a:lnTo>
                    <a:pt x="365907" y="3453"/>
                  </a:lnTo>
                  <a:lnTo>
                    <a:pt x="404189" y="11557"/>
                  </a:lnTo>
                  <a:lnTo>
                    <a:pt x="441196" y="24289"/>
                  </a:lnTo>
                  <a:lnTo>
                    <a:pt x="476367" y="41454"/>
                  </a:lnTo>
                  <a:lnTo>
                    <a:pt x="509167" y="62793"/>
                  </a:lnTo>
                  <a:lnTo>
                    <a:pt x="539109" y="87987"/>
                  </a:lnTo>
                  <a:lnTo>
                    <a:pt x="565745" y="116660"/>
                  </a:lnTo>
                  <a:lnTo>
                    <a:pt x="588671" y="148378"/>
                  </a:lnTo>
                  <a:lnTo>
                    <a:pt x="607539" y="182659"/>
                  </a:lnTo>
                  <a:lnTo>
                    <a:pt x="622069" y="218993"/>
                  </a:lnTo>
                  <a:lnTo>
                    <a:pt x="632043" y="256836"/>
                  </a:lnTo>
                  <a:lnTo>
                    <a:pt x="637310" y="295616"/>
                  </a:lnTo>
                  <a:lnTo>
                    <a:pt x="638174" y="319087"/>
                  </a:lnTo>
                  <a:lnTo>
                    <a:pt x="638078" y="326920"/>
                  </a:lnTo>
                  <a:lnTo>
                    <a:pt x="634721" y="365907"/>
                  </a:lnTo>
                  <a:lnTo>
                    <a:pt x="626617" y="404189"/>
                  </a:lnTo>
                  <a:lnTo>
                    <a:pt x="613885" y="441196"/>
                  </a:lnTo>
                  <a:lnTo>
                    <a:pt x="596720" y="476367"/>
                  </a:lnTo>
                  <a:lnTo>
                    <a:pt x="575381" y="509167"/>
                  </a:lnTo>
                  <a:lnTo>
                    <a:pt x="550187" y="539109"/>
                  </a:lnTo>
                  <a:lnTo>
                    <a:pt x="521514" y="565745"/>
                  </a:lnTo>
                  <a:lnTo>
                    <a:pt x="489796" y="588671"/>
                  </a:lnTo>
                  <a:lnTo>
                    <a:pt x="455515" y="607539"/>
                  </a:lnTo>
                  <a:lnTo>
                    <a:pt x="419181" y="622069"/>
                  </a:lnTo>
                  <a:lnTo>
                    <a:pt x="381338" y="632043"/>
                  </a:lnTo>
                  <a:lnTo>
                    <a:pt x="342558" y="637310"/>
                  </a:lnTo>
                  <a:lnTo>
                    <a:pt x="319087" y="638174"/>
                  </a:lnTo>
                  <a:close/>
                </a:path>
              </a:pathLst>
            </a:custGeom>
            <a:solidFill>
              <a:srgbClr val="000000"/>
            </a:solidFill>
          </p:spPr>
          <p:txBody>
            <a:bodyPr wrap="square" lIns="0" tIns="0" rIns="0" bIns="0" rtlCol="0"/>
            <a:lstStyle/>
            <a:p>
              <a:endParaRPr/>
            </a:p>
          </p:txBody>
        </p:sp>
        <p:sp>
          <p:nvSpPr>
            <p:cNvPr id="4" name="object 4"/>
            <p:cNvSpPr/>
            <p:nvPr/>
          </p:nvSpPr>
          <p:spPr>
            <a:xfrm>
              <a:off x="6466160" y="9825814"/>
              <a:ext cx="399415" cy="240029"/>
            </a:xfrm>
            <a:custGeom>
              <a:avLst/>
              <a:gdLst/>
              <a:ahLst/>
              <a:cxnLst/>
              <a:rect l="l" t="t" r="r" b="b"/>
              <a:pathLst>
                <a:path w="399415" h="240029">
                  <a:moveTo>
                    <a:pt x="199546" y="108022"/>
                  </a:moveTo>
                  <a:lnTo>
                    <a:pt x="9218" y="3402"/>
                  </a:lnTo>
                  <a:lnTo>
                    <a:pt x="12464" y="1254"/>
                  </a:lnTo>
                  <a:lnTo>
                    <a:pt x="16353" y="0"/>
                  </a:lnTo>
                  <a:lnTo>
                    <a:pt x="383012" y="0"/>
                  </a:lnTo>
                  <a:lnTo>
                    <a:pt x="387333" y="1576"/>
                  </a:lnTo>
                  <a:lnTo>
                    <a:pt x="390791" y="4223"/>
                  </a:lnTo>
                  <a:lnTo>
                    <a:pt x="199546" y="108022"/>
                  </a:lnTo>
                  <a:close/>
                </a:path>
                <a:path w="399415" h="240029">
                  <a:moveTo>
                    <a:pt x="679" y="224123"/>
                  </a:moveTo>
                  <a:lnTo>
                    <a:pt x="231" y="222404"/>
                  </a:lnTo>
                  <a:lnTo>
                    <a:pt x="0" y="220689"/>
                  </a:lnTo>
                  <a:lnTo>
                    <a:pt x="0" y="21645"/>
                  </a:lnTo>
                  <a:lnTo>
                    <a:pt x="118192" y="85960"/>
                  </a:lnTo>
                  <a:lnTo>
                    <a:pt x="679" y="224123"/>
                  </a:lnTo>
                  <a:close/>
                </a:path>
                <a:path w="399415" h="240029">
                  <a:moveTo>
                    <a:pt x="396399" y="228627"/>
                  </a:moveTo>
                  <a:lnTo>
                    <a:pt x="280874" y="85960"/>
                  </a:lnTo>
                  <a:lnTo>
                    <a:pt x="398859" y="23053"/>
                  </a:lnTo>
                  <a:lnTo>
                    <a:pt x="398859" y="222404"/>
                  </a:lnTo>
                  <a:lnTo>
                    <a:pt x="397968" y="225725"/>
                  </a:lnTo>
                  <a:lnTo>
                    <a:pt x="396399" y="228627"/>
                  </a:lnTo>
                  <a:close/>
                </a:path>
                <a:path w="399415" h="240029">
                  <a:moveTo>
                    <a:pt x="378716" y="239402"/>
                  </a:moveTo>
                  <a:lnTo>
                    <a:pt x="18628" y="239402"/>
                  </a:lnTo>
                  <a:lnTo>
                    <a:pt x="16923" y="239167"/>
                  </a:lnTo>
                  <a:lnTo>
                    <a:pt x="15229" y="238716"/>
                  </a:lnTo>
                  <a:lnTo>
                    <a:pt x="136616" y="96276"/>
                  </a:lnTo>
                  <a:lnTo>
                    <a:pt x="196085" y="129623"/>
                  </a:lnTo>
                  <a:lnTo>
                    <a:pt x="197816" y="130060"/>
                  </a:lnTo>
                  <a:lnTo>
                    <a:pt x="289915" y="130060"/>
                  </a:lnTo>
                  <a:lnTo>
                    <a:pt x="378716" y="239402"/>
                  </a:lnTo>
                  <a:close/>
                </a:path>
                <a:path w="399415" h="240029">
                  <a:moveTo>
                    <a:pt x="289915" y="130060"/>
                  </a:moveTo>
                  <a:lnTo>
                    <a:pt x="201278" y="130060"/>
                  </a:lnTo>
                  <a:lnTo>
                    <a:pt x="203009" y="129623"/>
                  </a:lnTo>
                  <a:lnTo>
                    <a:pt x="262477" y="96276"/>
                  </a:lnTo>
                  <a:lnTo>
                    <a:pt x="289915" y="130060"/>
                  </a:lnTo>
                  <a:close/>
                </a:path>
              </a:pathLst>
            </a:custGeom>
            <a:solidFill>
              <a:srgbClr val="FFFFFF"/>
            </a:solidFill>
          </p:spPr>
          <p:txBody>
            <a:bodyPr wrap="square" lIns="0" tIns="0" rIns="0" bIns="0" rtlCol="0"/>
            <a:lstStyle/>
            <a:p>
              <a:endParaRPr/>
            </a:p>
          </p:txBody>
        </p:sp>
      </p:grpSp>
      <p:sp>
        <p:nvSpPr>
          <p:cNvPr id="10" name="object 10"/>
          <p:cNvSpPr txBox="1"/>
          <p:nvPr/>
        </p:nvSpPr>
        <p:spPr>
          <a:xfrm>
            <a:off x="643519" y="1806562"/>
            <a:ext cx="9551670" cy="593752"/>
          </a:xfrm>
          <a:prstGeom prst="rect">
            <a:avLst/>
          </a:prstGeom>
        </p:spPr>
        <p:txBody>
          <a:bodyPr vert="horz" wrap="square" lIns="0" tIns="12065" rIns="0" bIns="0" rtlCol="0">
            <a:spAutoFit/>
          </a:bodyPr>
          <a:lstStyle/>
          <a:p>
            <a:pPr marL="160655" marR="1507490" indent="-148590">
              <a:lnSpc>
                <a:spcPct val="116100"/>
              </a:lnSpc>
              <a:spcBef>
                <a:spcPts val="95"/>
              </a:spcBef>
            </a:pPr>
            <a:r>
              <a:rPr sz="3500" u="sng" spc="-370" dirty="0">
                <a:latin typeface="Arial Black"/>
                <a:cs typeface="Arial Black"/>
              </a:rPr>
              <a:t>Architectural</a:t>
            </a:r>
            <a:r>
              <a:rPr sz="3500" u="sng" spc="-680" dirty="0">
                <a:latin typeface="Arial Black"/>
                <a:cs typeface="Arial Black"/>
              </a:rPr>
              <a:t> </a:t>
            </a:r>
            <a:r>
              <a:rPr sz="3500" u="sng" spc="-390" dirty="0">
                <a:latin typeface="Arial Black"/>
                <a:cs typeface="Arial Black"/>
              </a:rPr>
              <a:t>Overview</a:t>
            </a:r>
            <a:r>
              <a:rPr sz="3500" u="sng" spc="-675" dirty="0">
                <a:latin typeface="Arial Black"/>
                <a:cs typeface="Arial Black"/>
              </a:rPr>
              <a:t> </a:t>
            </a:r>
            <a:r>
              <a:rPr sz="3500" u="sng" spc="-260" dirty="0">
                <a:latin typeface="Arial Black"/>
                <a:cs typeface="Arial Black"/>
              </a:rPr>
              <a:t>(3-</a:t>
            </a:r>
            <a:r>
              <a:rPr sz="3500" u="sng" spc="-380" dirty="0">
                <a:latin typeface="Arial Black"/>
                <a:cs typeface="Arial Black"/>
              </a:rPr>
              <a:t>Tier):</a:t>
            </a:r>
            <a:endParaRPr sz="3500" u="sng" dirty="0">
              <a:latin typeface="Verdana"/>
              <a:cs typeface="Verdana"/>
            </a:endParaRPr>
          </a:p>
        </p:txBody>
      </p:sp>
      <p:pic>
        <p:nvPicPr>
          <p:cNvPr id="11" name="object 11"/>
          <p:cNvPicPr/>
          <p:nvPr/>
        </p:nvPicPr>
        <p:blipFill>
          <a:blip r:embed="rId2" cstate="print"/>
          <a:stretch>
            <a:fillRect/>
          </a:stretch>
        </p:blipFill>
        <p:spPr>
          <a:xfrm>
            <a:off x="16551740" y="182681"/>
            <a:ext cx="1514474" cy="1514474"/>
          </a:xfrm>
          <a:prstGeom prst="rect">
            <a:avLst/>
          </a:prstGeom>
        </p:spPr>
      </p:pic>
      <p:sp>
        <p:nvSpPr>
          <p:cNvPr id="13" name="object 13"/>
          <p:cNvSpPr txBox="1">
            <a:spLocks noGrp="1"/>
          </p:cNvSpPr>
          <p:nvPr>
            <p:ph type="title"/>
          </p:nvPr>
        </p:nvSpPr>
        <p:spPr>
          <a:prstGeom prst="rect">
            <a:avLst/>
          </a:prstGeom>
        </p:spPr>
        <p:txBody>
          <a:bodyPr vert="horz" wrap="square" lIns="0" tIns="12700" rIns="0" bIns="0" rtlCol="0">
            <a:spAutoFit/>
          </a:bodyPr>
          <a:lstStyle/>
          <a:p>
            <a:pPr marL="2200275">
              <a:lnSpc>
                <a:spcPct val="100000"/>
              </a:lnSpc>
              <a:spcBef>
                <a:spcPts val="100"/>
              </a:spcBef>
            </a:pPr>
            <a:r>
              <a:rPr u="sng" spc="-395" dirty="0"/>
              <a:t>System</a:t>
            </a:r>
            <a:r>
              <a:rPr u="sng" spc="-465" dirty="0"/>
              <a:t> </a:t>
            </a:r>
            <a:r>
              <a:rPr u="sng" spc="-330" dirty="0"/>
              <a:t>Architecture</a:t>
            </a:r>
          </a:p>
        </p:txBody>
      </p:sp>
      <p:pic>
        <p:nvPicPr>
          <p:cNvPr id="14" name="object 14"/>
          <p:cNvPicPr/>
          <p:nvPr/>
        </p:nvPicPr>
        <p:blipFill>
          <a:blip r:embed="rId3" cstate="print"/>
          <a:stretch>
            <a:fillRect/>
          </a:stretch>
        </p:blipFill>
        <p:spPr>
          <a:xfrm>
            <a:off x="244807" y="314380"/>
            <a:ext cx="1571624" cy="1078140"/>
          </a:xfrm>
          <a:prstGeom prst="rect">
            <a:avLst/>
          </a:prstGeom>
        </p:spPr>
      </p:pic>
      <p:sp>
        <p:nvSpPr>
          <p:cNvPr id="15" name="object 15"/>
          <p:cNvSpPr txBox="1"/>
          <p:nvPr/>
        </p:nvSpPr>
        <p:spPr>
          <a:xfrm>
            <a:off x="7043125" y="9657009"/>
            <a:ext cx="4201795" cy="532130"/>
          </a:xfrm>
          <a:prstGeom prst="rect">
            <a:avLst/>
          </a:prstGeom>
        </p:spPr>
        <p:txBody>
          <a:bodyPr vert="horz" wrap="square" lIns="0" tIns="41275" rIns="0" bIns="0" rtlCol="0">
            <a:spAutoFit/>
          </a:bodyPr>
          <a:lstStyle/>
          <a:p>
            <a:pPr marL="12700">
              <a:lnSpc>
                <a:spcPct val="100000"/>
              </a:lnSpc>
              <a:spcBef>
                <a:spcPts val="325"/>
              </a:spcBef>
            </a:pPr>
            <a:r>
              <a:rPr sz="2900" spc="-114" dirty="0">
                <a:solidFill>
                  <a:srgbClr val="FFFFFF"/>
                </a:solidFill>
                <a:latin typeface="Arial Black"/>
                <a:cs typeface="Arial Black"/>
                <a:hlinkClick r:id="rId4"/>
              </a:rPr>
              <a:t>codingclub@sru.edu.in</a:t>
            </a:r>
            <a:endParaRPr sz="2900">
              <a:latin typeface="Arial Black"/>
              <a:cs typeface="Arial Black"/>
            </a:endParaRPr>
          </a:p>
        </p:txBody>
      </p:sp>
      <p:sp>
        <p:nvSpPr>
          <p:cNvPr id="17" name="TextBox 16">
            <a:extLst>
              <a:ext uri="{FF2B5EF4-FFF2-40B4-BE49-F238E27FC236}">
                <a16:creationId xmlns:a16="http://schemas.microsoft.com/office/drawing/2014/main" id="{6EF7CBDF-3A3D-89CD-CDCF-FF12D71EEC33}"/>
              </a:ext>
            </a:extLst>
          </p:cNvPr>
          <p:cNvSpPr txBox="1"/>
          <p:nvPr/>
        </p:nvSpPr>
        <p:spPr>
          <a:xfrm>
            <a:off x="566948" y="2599696"/>
            <a:ext cx="17499266" cy="5016758"/>
          </a:xfrm>
          <a:prstGeom prst="rect">
            <a:avLst/>
          </a:prstGeom>
          <a:noFill/>
        </p:spPr>
        <p:txBody>
          <a:bodyPr wrap="square">
            <a:spAutoFit/>
          </a:bodyPr>
          <a:lstStyle/>
          <a:p>
            <a:r>
              <a:rPr lang="en-IN" sz="3200" b="1" dirty="0">
                <a:sym typeface="Wingdings" panose="05000000000000000000" pitchFamily="2" charset="2"/>
              </a:rPr>
              <a:t></a:t>
            </a:r>
            <a:r>
              <a:rPr lang="en-US" sz="3200" b="1" dirty="0"/>
              <a:t>1. Presentation Layer (Frontend):</a:t>
            </a:r>
            <a:br>
              <a:rPr lang="en-US" sz="3200" dirty="0"/>
            </a:br>
            <a:r>
              <a:rPr lang="en-US" sz="3200" dirty="0"/>
              <a:t>User interfaces for patients, caregivers, and doctors (web/mobile dashboards) to view records, receive alerts, and manage medications.</a:t>
            </a:r>
          </a:p>
          <a:p>
            <a:r>
              <a:rPr lang="en-US" sz="3200" b="1" dirty="0"/>
              <a:t>2. Application Layer (Backend):</a:t>
            </a:r>
            <a:br>
              <a:rPr lang="en-US" sz="3200" dirty="0"/>
            </a:br>
            <a:r>
              <a:rPr lang="en-US" sz="3200" dirty="0"/>
              <a:t>Java-based server handling business logic, APIs, authentication, drug interaction checks, notifications, and communication between users.</a:t>
            </a:r>
          </a:p>
          <a:p>
            <a:r>
              <a:rPr lang="en-US" sz="3200" b="1" dirty="0"/>
              <a:t>3. Data Layer (Database):</a:t>
            </a:r>
            <a:br>
              <a:rPr lang="en-US" sz="3200" dirty="0"/>
            </a:br>
            <a:r>
              <a:rPr lang="en-US" sz="3200" dirty="0"/>
              <a:t>Centralized database storing patient records, prescriptions, health data, alerts, and logs with secure access control.</a:t>
            </a:r>
          </a:p>
          <a:p>
            <a:endParaRPr lang="en-IN"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51740" y="182681"/>
            <a:ext cx="1514474" cy="1514474"/>
          </a:xfrm>
          <a:prstGeom prst="rect">
            <a:avLst/>
          </a:prstGeom>
        </p:spPr>
      </p:pic>
      <p:sp>
        <p:nvSpPr>
          <p:cNvPr id="3" name="object 3"/>
          <p:cNvSpPr txBox="1"/>
          <p:nvPr/>
        </p:nvSpPr>
        <p:spPr>
          <a:xfrm>
            <a:off x="1030619" y="1663971"/>
            <a:ext cx="10417810" cy="6126614"/>
          </a:xfrm>
          <a:prstGeom prst="rect">
            <a:avLst/>
          </a:prstGeom>
        </p:spPr>
        <p:txBody>
          <a:bodyPr vert="horz" wrap="square" lIns="0" tIns="12065" rIns="0" bIns="0" rtlCol="0">
            <a:spAutoFit/>
          </a:bodyPr>
          <a:lstStyle/>
          <a:p>
            <a:pPr marL="571500" indent="-571500">
              <a:buFont typeface="Arial" panose="020B0604020202020204" pitchFamily="34" charset="0"/>
              <a:buChar char="•"/>
            </a:pPr>
            <a:r>
              <a:rPr lang="en-US" sz="3600" dirty="0"/>
              <a:t>Patient details are entered into the system </a:t>
            </a:r>
          </a:p>
          <a:p>
            <a:pPr marL="571500" indent="-571500">
              <a:buFont typeface="Arial" panose="020B0604020202020204" pitchFamily="34" charset="0"/>
              <a:buChar char="•"/>
            </a:pPr>
            <a:r>
              <a:rPr lang="en-US" sz="3600" dirty="0"/>
              <a:t>Data is stored in the centralized database </a:t>
            </a:r>
          </a:p>
          <a:p>
            <a:pPr marL="571500" indent="-571500">
              <a:buFont typeface="Arial" panose="020B0604020202020204" pitchFamily="34" charset="0"/>
              <a:buChar char="•"/>
            </a:pPr>
            <a:r>
              <a:rPr lang="en-US" sz="3600" dirty="0"/>
              <a:t>Doctor adds prescriptions/medications </a:t>
            </a:r>
          </a:p>
          <a:p>
            <a:pPr marL="571500" indent="-571500">
              <a:buFont typeface="Arial" panose="020B0604020202020204" pitchFamily="34" charset="0"/>
              <a:buChar char="•"/>
            </a:pPr>
            <a:r>
              <a:rPr lang="en-US" sz="3600" dirty="0"/>
              <a:t>System performs drug interaction check </a:t>
            </a:r>
          </a:p>
          <a:p>
            <a:pPr marL="571500" indent="-571500">
              <a:buFont typeface="Arial" panose="020B0604020202020204" pitchFamily="34" charset="0"/>
              <a:buChar char="•"/>
            </a:pPr>
            <a:r>
              <a:rPr lang="en-US" sz="3600" dirty="0"/>
              <a:t>Alerts are generated if risks are detected </a:t>
            </a:r>
          </a:p>
          <a:p>
            <a:pPr marL="571500" indent="-571500">
              <a:buFont typeface="Arial" panose="020B0604020202020204" pitchFamily="34" charset="0"/>
              <a:buChar char="•"/>
            </a:pPr>
            <a:r>
              <a:rPr lang="en-US" sz="3600" dirty="0"/>
              <a:t>Medication schedule and reminders are created </a:t>
            </a:r>
          </a:p>
          <a:p>
            <a:pPr marL="571500" indent="-571500">
              <a:buFont typeface="Arial" panose="020B0604020202020204" pitchFamily="34" charset="0"/>
              <a:buChar char="•"/>
            </a:pPr>
            <a:r>
              <a:rPr lang="en-US" sz="3600" dirty="0"/>
              <a:t>Notifications are sent to patient and caregiver </a:t>
            </a:r>
          </a:p>
          <a:p>
            <a:pPr marL="571500" indent="-571500">
              <a:buFont typeface="Arial" panose="020B0604020202020204" pitchFamily="34" charset="0"/>
              <a:buChar char="•"/>
            </a:pPr>
            <a:r>
              <a:rPr lang="en-US" sz="3600" dirty="0"/>
              <a:t>Health data (BP, sugar, etc.) is monitored </a:t>
            </a:r>
          </a:p>
          <a:p>
            <a:pPr marL="571500" indent="-571500">
              <a:buFont typeface="Arial" panose="020B0604020202020204" pitchFamily="34" charset="0"/>
              <a:buChar char="•"/>
            </a:pPr>
            <a:r>
              <a:rPr lang="en-US" sz="3600" dirty="0"/>
              <a:t>Abnormal values trigger real-time alerts </a:t>
            </a:r>
          </a:p>
          <a:p>
            <a:pPr marL="571500" indent="-571500">
              <a:buFont typeface="Arial" panose="020B0604020202020204" pitchFamily="34" charset="0"/>
              <a:buChar char="•"/>
            </a:pPr>
            <a:r>
              <a:rPr lang="en-US" sz="3600" dirty="0"/>
              <a:t>Doctors review data and update treatment plan </a:t>
            </a:r>
          </a:p>
          <a:p>
            <a:pPr marR="5080">
              <a:lnSpc>
                <a:spcPct val="116100"/>
              </a:lnSpc>
              <a:spcBef>
                <a:spcPts val="95"/>
              </a:spcBef>
              <a:buSzPct val="88571"/>
              <a:tabLst>
                <a:tab pos="406400" algn="l"/>
              </a:tabLst>
            </a:pPr>
            <a:endParaRPr sz="3500" dirty="0">
              <a:latin typeface="Verdana"/>
              <a:cs typeface="Verdana"/>
            </a:endParaRPr>
          </a:p>
        </p:txBody>
      </p:sp>
      <p:sp>
        <p:nvSpPr>
          <p:cNvPr id="5" name="object 5"/>
          <p:cNvSpPr txBox="1">
            <a:spLocks noGrp="1"/>
          </p:cNvSpPr>
          <p:nvPr>
            <p:ph type="title"/>
          </p:nvPr>
        </p:nvSpPr>
        <p:spPr>
          <a:prstGeom prst="rect">
            <a:avLst/>
          </a:prstGeom>
        </p:spPr>
        <p:txBody>
          <a:bodyPr vert="horz" wrap="square" lIns="0" tIns="12700" rIns="0" bIns="0" rtlCol="0">
            <a:spAutoFit/>
          </a:bodyPr>
          <a:lstStyle/>
          <a:p>
            <a:pPr marL="2169160">
              <a:lnSpc>
                <a:spcPct val="100000"/>
              </a:lnSpc>
              <a:spcBef>
                <a:spcPts val="100"/>
              </a:spcBef>
            </a:pPr>
            <a:r>
              <a:rPr u="sng" spc="-315" dirty="0"/>
              <a:t>Data</a:t>
            </a:r>
            <a:r>
              <a:rPr u="sng" spc="-490" dirty="0"/>
              <a:t> </a:t>
            </a:r>
            <a:r>
              <a:rPr u="sng" spc="-415" dirty="0"/>
              <a:t>Flow</a:t>
            </a:r>
            <a:r>
              <a:rPr u="sng" spc="-484" dirty="0"/>
              <a:t> </a:t>
            </a:r>
            <a:r>
              <a:rPr u="sng" spc="705" dirty="0"/>
              <a:t>/</a:t>
            </a:r>
            <a:r>
              <a:rPr u="sng" spc="-484" dirty="0"/>
              <a:t> </a:t>
            </a:r>
            <a:r>
              <a:rPr u="sng" spc="-350" dirty="0"/>
              <a:t>Workflow</a:t>
            </a:r>
          </a:p>
        </p:txBody>
      </p:sp>
      <p:pic>
        <p:nvPicPr>
          <p:cNvPr id="6" name="object 6"/>
          <p:cNvPicPr/>
          <p:nvPr/>
        </p:nvPicPr>
        <p:blipFill>
          <a:blip r:embed="rId3" cstate="print"/>
          <a:stretch>
            <a:fillRect/>
          </a:stretch>
        </p:blipFill>
        <p:spPr>
          <a:xfrm>
            <a:off x="244807" y="314380"/>
            <a:ext cx="1571624" cy="1078140"/>
          </a:xfrm>
          <a:prstGeom prst="rect">
            <a:avLst/>
          </a:prstGeom>
        </p:spPr>
      </p:pic>
      <p:grpSp>
        <p:nvGrpSpPr>
          <p:cNvPr id="7" name="object 7"/>
          <p:cNvGrpSpPr/>
          <p:nvPr/>
        </p:nvGrpSpPr>
        <p:grpSpPr>
          <a:xfrm>
            <a:off x="6347447" y="9626432"/>
            <a:ext cx="638175" cy="638175"/>
            <a:chOff x="6347447" y="9626432"/>
            <a:chExt cx="638175" cy="638175"/>
          </a:xfrm>
        </p:grpSpPr>
        <p:sp>
          <p:nvSpPr>
            <p:cNvPr id="8" name="object 8"/>
            <p:cNvSpPr/>
            <p:nvPr/>
          </p:nvSpPr>
          <p:spPr>
            <a:xfrm>
              <a:off x="6347447" y="9626432"/>
              <a:ext cx="638175" cy="638175"/>
            </a:xfrm>
            <a:custGeom>
              <a:avLst/>
              <a:gdLst/>
              <a:ahLst/>
              <a:cxnLst/>
              <a:rect l="l" t="t" r="r" b="b"/>
              <a:pathLst>
                <a:path w="638175" h="638175">
                  <a:moveTo>
                    <a:pt x="319087" y="638174"/>
                  </a:moveTo>
                  <a:lnTo>
                    <a:pt x="280025" y="635775"/>
                  </a:lnTo>
                  <a:lnTo>
                    <a:pt x="241555" y="628612"/>
                  </a:lnTo>
                  <a:lnTo>
                    <a:pt x="204251" y="616794"/>
                  </a:lnTo>
                  <a:lnTo>
                    <a:pt x="168670" y="600497"/>
                  </a:lnTo>
                  <a:lnTo>
                    <a:pt x="135352" y="579967"/>
                  </a:lnTo>
                  <a:lnTo>
                    <a:pt x="104801" y="555515"/>
                  </a:lnTo>
                  <a:lnTo>
                    <a:pt x="77473" y="527508"/>
                  </a:lnTo>
                  <a:lnTo>
                    <a:pt x="53775" y="496362"/>
                  </a:lnTo>
                  <a:lnTo>
                    <a:pt x="34069" y="462550"/>
                  </a:lnTo>
                  <a:lnTo>
                    <a:pt x="18652" y="426584"/>
                  </a:lnTo>
                  <a:lnTo>
                    <a:pt x="7753" y="389002"/>
                  </a:lnTo>
                  <a:lnTo>
                    <a:pt x="1536" y="350363"/>
                  </a:lnTo>
                  <a:lnTo>
                    <a:pt x="0" y="319087"/>
                  </a:lnTo>
                  <a:lnTo>
                    <a:pt x="96" y="311254"/>
                  </a:lnTo>
                  <a:lnTo>
                    <a:pt x="3453" y="272267"/>
                  </a:lnTo>
                  <a:lnTo>
                    <a:pt x="11557" y="233985"/>
                  </a:lnTo>
                  <a:lnTo>
                    <a:pt x="24289" y="196977"/>
                  </a:lnTo>
                  <a:lnTo>
                    <a:pt x="41454" y="161807"/>
                  </a:lnTo>
                  <a:lnTo>
                    <a:pt x="62793" y="129007"/>
                  </a:lnTo>
                  <a:lnTo>
                    <a:pt x="87987" y="99065"/>
                  </a:lnTo>
                  <a:lnTo>
                    <a:pt x="116660" y="72429"/>
                  </a:lnTo>
                  <a:lnTo>
                    <a:pt x="148378" y="49503"/>
                  </a:lnTo>
                  <a:lnTo>
                    <a:pt x="182659" y="30635"/>
                  </a:lnTo>
                  <a:lnTo>
                    <a:pt x="218993" y="16105"/>
                  </a:lnTo>
                  <a:lnTo>
                    <a:pt x="256836" y="6131"/>
                  </a:lnTo>
                  <a:lnTo>
                    <a:pt x="295616" y="864"/>
                  </a:lnTo>
                  <a:lnTo>
                    <a:pt x="319087" y="0"/>
                  </a:lnTo>
                  <a:lnTo>
                    <a:pt x="326920" y="96"/>
                  </a:lnTo>
                  <a:lnTo>
                    <a:pt x="365907" y="3453"/>
                  </a:lnTo>
                  <a:lnTo>
                    <a:pt x="404189" y="11557"/>
                  </a:lnTo>
                  <a:lnTo>
                    <a:pt x="441196" y="24289"/>
                  </a:lnTo>
                  <a:lnTo>
                    <a:pt x="476367" y="41454"/>
                  </a:lnTo>
                  <a:lnTo>
                    <a:pt x="509167" y="62793"/>
                  </a:lnTo>
                  <a:lnTo>
                    <a:pt x="539109" y="87987"/>
                  </a:lnTo>
                  <a:lnTo>
                    <a:pt x="565745" y="116660"/>
                  </a:lnTo>
                  <a:lnTo>
                    <a:pt x="588671" y="148378"/>
                  </a:lnTo>
                  <a:lnTo>
                    <a:pt x="607539" y="182659"/>
                  </a:lnTo>
                  <a:lnTo>
                    <a:pt x="622069" y="218993"/>
                  </a:lnTo>
                  <a:lnTo>
                    <a:pt x="632043" y="256836"/>
                  </a:lnTo>
                  <a:lnTo>
                    <a:pt x="637310" y="295616"/>
                  </a:lnTo>
                  <a:lnTo>
                    <a:pt x="638174" y="319087"/>
                  </a:lnTo>
                  <a:lnTo>
                    <a:pt x="638078" y="326920"/>
                  </a:lnTo>
                  <a:lnTo>
                    <a:pt x="634721" y="365907"/>
                  </a:lnTo>
                  <a:lnTo>
                    <a:pt x="626617" y="404189"/>
                  </a:lnTo>
                  <a:lnTo>
                    <a:pt x="613885" y="441196"/>
                  </a:lnTo>
                  <a:lnTo>
                    <a:pt x="596720" y="476367"/>
                  </a:lnTo>
                  <a:lnTo>
                    <a:pt x="575381" y="509167"/>
                  </a:lnTo>
                  <a:lnTo>
                    <a:pt x="550187" y="539109"/>
                  </a:lnTo>
                  <a:lnTo>
                    <a:pt x="521514" y="565745"/>
                  </a:lnTo>
                  <a:lnTo>
                    <a:pt x="489796" y="588671"/>
                  </a:lnTo>
                  <a:lnTo>
                    <a:pt x="455515" y="607539"/>
                  </a:lnTo>
                  <a:lnTo>
                    <a:pt x="419181" y="622069"/>
                  </a:lnTo>
                  <a:lnTo>
                    <a:pt x="381338" y="632043"/>
                  </a:lnTo>
                  <a:lnTo>
                    <a:pt x="342558" y="637310"/>
                  </a:lnTo>
                  <a:lnTo>
                    <a:pt x="319087" y="638174"/>
                  </a:lnTo>
                  <a:close/>
                </a:path>
              </a:pathLst>
            </a:custGeom>
            <a:solidFill>
              <a:srgbClr val="000000"/>
            </a:solidFill>
          </p:spPr>
          <p:txBody>
            <a:bodyPr wrap="square" lIns="0" tIns="0" rIns="0" bIns="0" rtlCol="0"/>
            <a:lstStyle/>
            <a:p>
              <a:endParaRPr/>
            </a:p>
          </p:txBody>
        </p:sp>
        <p:sp>
          <p:nvSpPr>
            <p:cNvPr id="9" name="object 9"/>
            <p:cNvSpPr/>
            <p:nvPr/>
          </p:nvSpPr>
          <p:spPr>
            <a:xfrm>
              <a:off x="6466160" y="9825813"/>
              <a:ext cx="399415" cy="240029"/>
            </a:xfrm>
            <a:custGeom>
              <a:avLst/>
              <a:gdLst/>
              <a:ahLst/>
              <a:cxnLst/>
              <a:rect l="l" t="t" r="r" b="b"/>
              <a:pathLst>
                <a:path w="399415" h="240029">
                  <a:moveTo>
                    <a:pt x="199546" y="108022"/>
                  </a:moveTo>
                  <a:lnTo>
                    <a:pt x="9218" y="3402"/>
                  </a:lnTo>
                  <a:lnTo>
                    <a:pt x="12464" y="1254"/>
                  </a:lnTo>
                  <a:lnTo>
                    <a:pt x="16353" y="0"/>
                  </a:lnTo>
                  <a:lnTo>
                    <a:pt x="383012" y="0"/>
                  </a:lnTo>
                  <a:lnTo>
                    <a:pt x="387333" y="1576"/>
                  </a:lnTo>
                  <a:lnTo>
                    <a:pt x="390791" y="4223"/>
                  </a:lnTo>
                  <a:lnTo>
                    <a:pt x="199546" y="108022"/>
                  </a:lnTo>
                  <a:close/>
                </a:path>
                <a:path w="399415" h="240029">
                  <a:moveTo>
                    <a:pt x="679" y="224123"/>
                  </a:moveTo>
                  <a:lnTo>
                    <a:pt x="231" y="222404"/>
                  </a:lnTo>
                  <a:lnTo>
                    <a:pt x="0" y="220689"/>
                  </a:lnTo>
                  <a:lnTo>
                    <a:pt x="0" y="21645"/>
                  </a:lnTo>
                  <a:lnTo>
                    <a:pt x="118192" y="85960"/>
                  </a:lnTo>
                  <a:lnTo>
                    <a:pt x="679" y="224123"/>
                  </a:lnTo>
                  <a:close/>
                </a:path>
                <a:path w="399415" h="240029">
                  <a:moveTo>
                    <a:pt x="396399" y="228627"/>
                  </a:moveTo>
                  <a:lnTo>
                    <a:pt x="280874" y="85960"/>
                  </a:lnTo>
                  <a:lnTo>
                    <a:pt x="398859" y="23053"/>
                  </a:lnTo>
                  <a:lnTo>
                    <a:pt x="398859" y="222404"/>
                  </a:lnTo>
                  <a:lnTo>
                    <a:pt x="397968" y="225725"/>
                  </a:lnTo>
                  <a:lnTo>
                    <a:pt x="396399" y="228627"/>
                  </a:lnTo>
                  <a:close/>
                </a:path>
                <a:path w="399415" h="240029">
                  <a:moveTo>
                    <a:pt x="378716" y="239402"/>
                  </a:moveTo>
                  <a:lnTo>
                    <a:pt x="18628" y="239402"/>
                  </a:lnTo>
                  <a:lnTo>
                    <a:pt x="16923" y="239167"/>
                  </a:lnTo>
                  <a:lnTo>
                    <a:pt x="15229" y="238716"/>
                  </a:lnTo>
                  <a:lnTo>
                    <a:pt x="136616" y="96276"/>
                  </a:lnTo>
                  <a:lnTo>
                    <a:pt x="196085" y="129623"/>
                  </a:lnTo>
                  <a:lnTo>
                    <a:pt x="197816" y="130060"/>
                  </a:lnTo>
                  <a:lnTo>
                    <a:pt x="289915" y="130060"/>
                  </a:lnTo>
                  <a:lnTo>
                    <a:pt x="378716" y="239402"/>
                  </a:lnTo>
                  <a:close/>
                </a:path>
                <a:path w="399415" h="240029">
                  <a:moveTo>
                    <a:pt x="289915" y="130060"/>
                  </a:moveTo>
                  <a:lnTo>
                    <a:pt x="201278" y="130060"/>
                  </a:lnTo>
                  <a:lnTo>
                    <a:pt x="203009" y="129623"/>
                  </a:lnTo>
                  <a:lnTo>
                    <a:pt x="262477" y="96276"/>
                  </a:lnTo>
                  <a:lnTo>
                    <a:pt x="289915" y="130060"/>
                  </a:lnTo>
                  <a:close/>
                </a:path>
              </a:pathLst>
            </a:custGeom>
            <a:solidFill>
              <a:srgbClr val="FFFFFF"/>
            </a:solidFill>
          </p:spPr>
          <p:txBody>
            <a:bodyPr wrap="square" lIns="0" tIns="0" rIns="0" bIns="0" rtlCol="0"/>
            <a:lstStyle/>
            <a:p>
              <a:endParaRPr/>
            </a:p>
          </p:txBody>
        </p:sp>
      </p:grpSp>
      <p:sp>
        <p:nvSpPr>
          <p:cNvPr id="10" name="object 10"/>
          <p:cNvSpPr txBox="1"/>
          <p:nvPr/>
        </p:nvSpPr>
        <p:spPr>
          <a:xfrm>
            <a:off x="7043125" y="9657009"/>
            <a:ext cx="4201795" cy="532130"/>
          </a:xfrm>
          <a:prstGeom prst="rect">
            <a:avLst/>
          </a:prstGeom>
        </p:spPr>
        <p:txBody>
          <a:bodyPr vert="horz" wrap="square" lIns="0" tIns="41275" rIns="0" bIns="0" rtlCol="0">
            <a:spAutoFit/>
          </a:bodyPr>
          <a:lstStyle/>
          <a:p>
            <a:pPr marL="12700">
              <a:lnSpc>
                <a:spcPct val="100000"/>
              </a:lnSpc>
              <a:spcBef>
                <a:spcPts val="325"/>
              </a:spcBef>
            </a:pPr>
            <a:r>
              <a:rPr sz="2900" spc="-114" dirty="0">
                <a:solidFill>
                  <a:srgbClr val="FFFFFF"/>
                </a:solidFill>
                <a:latin typeface="Arial Black"/>
                <a:cs typeface="Arial Black"/>
                <a:hlinkClick r:id="rId4"/>
              </a:rPr>
              <a:t>codingclub@sru.edu.in</a:t>
            </a:r>
            <a:endParaRPr sz="2900">
              <a:latin typeface="Arial Black"/>
              <a:cs typeface="Arial Blac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51740" y="182681"/>
            <a:ext cx="1514474" cy="1514474"/>
          </a:xfrm>
          <a:prstGeom prst="rect">
            <a:avLst/>
          </a:prstGeom>
        </p:spPr>
      </p:pic>
      <p:sp>
        <p:nvSpPr>
          <p:cNvPr id="11" name="object 11"/>
          <p:cNvSpPr txBox="1">
            <a:spLocks noGrp="1"/>
          </p:cNvSpPr>
          <p:nvPr>
            <p:ph type="title"/>
          </p:nvPr>
        </p:nvSpPr>
        <p:spPr>
          <a:prstGeom prst="rect">
            <a:avLst/>
          </a:prstGeom>
        </p:spPr>
        <p:txBody>
          <a:bodyPr vert="horz" wrap="square" lIns="0" tIns="12700" rIns="0" bIns="0" rtlCol="0">
            <a:spAutoFit/>
          </a:bodyPr>
          <a:lstStyle/>
          <a:p>
            <a:pPr marL="2699385">
              <a:lnSpc>
                <a:spcPct val="100000"/>
              </a:lnSpc>
              <a:spcBef>
                <a:spcPts val="100"/>
              </a:spcBef>
            </a:pPr>
            <a:r>
              <a:rPr u="sng" spc="-345" dirty="0"/>
              <a:t>Impact</a:t>
            </a:r>
            <a:r>
              <a:rPr u="sng" spc="-475" dirty="0"/>
              <a:t> </a:t>
            </a:r>
            <a:r>
              <a:rPr u="sng" spc="-1160" dirty="0"/>
              <a:t>&amp;</a:t>
            </a:r>
            <a:r>
              <a:rPr u="sng" spc="-475" dirty="0"/>
              <a:t> </a:t>
            </a:r>
            <a:r>
              <a:rPr u="sng" spc="-320" dirty="0"/>
              <a:t>Benefits</a:t>
            </a:r>
          </a:p>
        </p:txBody>
      </p:sp>
      <p:pic>
        <p:nvPicPr>
          <p:cNvPr id="12" name="object 12"/>
          <p:cNvPicPr/>
          <p:nvPr/>
        </p:nvPicPr>
        <p:blipFill>
          <a:blip r:embed="rId3" cstate="print"/>
          <a:stretch>
            <a:fillRect/>
          </a:stretch>
        </p:blipFill>
        <p:spPr>
          <a:xfrm>
            <a:off x="244807" y="314380"/>
            <a:ext cx="1571624" cy="1078140"/>
          </a:xfrm>
          <a:prstGeom prst="rect">
            <a:avLst/>
          </a:prstGeom>
        </p:spPr>
      </p:pic>
      <p:grpSp>
        <p:nvGrpSpPr>
          <p:cNvPr id="13" name="object 13"/>
          <p:cNvGrpSpPr/>
          <p:nvPr/>
        </p:nvGrpSpPr>
        <p:grpSpPr>
          <a:xfrm>
            <a:off x="6347447" y="9626432"/>
            <a:ext cx="638175" cy="638175"/>
            <a:chOff x="6347447" y="9626432"/>
            <a:chExt cx="638175" cy="638175"/>
          </a:xfrm>
        </p:grpSpPr>
        <p:sp>
          <p:nvSpPr>
            <p:cNvPr id="14" name="object 14"/>
            <p:cNvSpPr/>
            <p:nvPr/>
          </p:nvSpPr>
          <p:spPr>
            <a:xfrm>
              <a:off x="6347447" y="9626432"/>
              <a:ext cx="638175" cy="638175"/>
            </a:xfrm>
            <a:custGeom>
              <a:avLst/>
              <a:gdLst/>
              <a:ahLst/>
              <a:cxnLst/>
              <a:rect l="l" t="t" r="r" b="b"/>
              <a:pathLst>
                <a:path w="638175" h="638175">
                  <a:moveTo>
                    <a:pt x="319087" y="638174"/>
                  </a:moveTo>
                  <a:lnTo>
                    <a:pt x="280025" y="635775"/>
                  </a:lnTo>
                  <a:lnTo>
                    <a:pt x="241555" y="628612"/>
                  </a:lnTo>
                  <a:lnTo>
                    <a:pt x="204251" y="616794"/>
                  </a:lnTo>
                  <a:lnTo>
                    <a:pt x="168670" y="600497"/>
                  </a:lnTo>
                  <a:lnTo>
                    <a:pt x="135352" y="579967"/>
                  </a:lnTo>
                  <a:lnTo>
                    <a:pt x="104801" y="555515"/>
                  </a:lnTo>
                  <a:lnTo>
                    <a:pt x="77473" y="527508"/>
                  </a:lnTo>
                  <a:lnTo>
                    <a:pt x="53775" y="496362"/>
                  </a:lnTo>
                  <a:lnTo>
                    <a:pt x="34069" y="462550"/>
                  </a:lnTo>
                  <a:lnTo>
                    <a:pt x="18652" y="426584"/>
                  </a:lnTo>
                  <a:lnTo>
                    <a:pt x="7753" y="389002"/>
                  </a:lnTo>
                  <a:lnTo>
                    <a:pt x="1536" y="350363"/>
                  </a:lnTo>
                  <a:lnTo>
                    <a:pt x="0" y="319087"/>
                  </a:lnTo>
                  <a:lnTo>
                    <a:pt x="96" y="311254"/>
                  </a:lnTo>
                  <a:lnTo>
                    <a:pt x="3453" y="272267"/>
                  </a:lnTo>
                  <a:lnTo>
                    <a:pt x="11557" y="233985"/>
                  </a:lnTo>
                  <a:lnTo>
                    <a:pt x="24289" y="196977"/>
                  </a:lnTo>
                  <a:lnTo>
                    <a:pt x="41454" y="161807"/>
                  </a:lnTo>
                  <a:lnTo>
                    <a:pt x="62793" y="129007"/>
                  </a:lnTo>
                  <a:lnTo>
                    <a:pt x="87987" y="99065"/>
                  </a:lnTo>
                  <a:lnTo>
                    <a:pt x="116660" y="72429"/>
                  </a:lnTo>
                  <a:lnTo>
                    <a:pt x="148378" y="49503"/>
                  </a:lnTo>
                  <a:lnTo>
                    <a:pt x="182659" y="30635"/>
                  </a:lnTo>
                  <a:lnTo>
                    <a:pt x="218993" y="16105"/>
                  </a:lnTo>
                  <a:lnTo>
                    <a:pt x="256836" y="6131"/>
                  </a:lnTo>
                  <a:lnTo>
                    <a:pt x="295616" y="864"/>
                  </a:lnTo>
                  <a:lnTo>
                    <a:pt x="319087" y="0"/>
                  </a:lnTo>
                  <a:lnTo>
                    <a:pt x="326920" y="96"/>
                  </a:lnTo>
                  <a:lnTo>
                    <a:pt x="365907" y="3453"/>
                  </a:lnTo>
                  <a:lnTo>
                    <a:pt x="404189" y="11557"/>
                  </a:lnTo>
                  <a:lnTo>
                    <a:pt x="441196" y="24289"/>
                  </a:lnTo>
                  <a:lnTo>
                    <a:pt x="476367" y="41454"/>
                  </a:lnTo>
                  <a:lnTo>
                    <a:pt x="509167" y="62793"/>
                  </a:lnTo>
                  <a:lnTo>
                    <a:pt x="539109" y="87987"/>
                  </a:lnTo>
                  <a:lnTo>
                    <a:pt x="565745" y="116660"/>
                  </a:lnTo>
                  <a:lnTo>
                    <a:pt x="588671" y="148378"/>
                  </a:lnTo>
                  <a:lnTo>
                    <a:pt x="607539" y="182659"/>
                  </a:lnTo>
                  <a:lnTo>
                    <a:pt x="622069" y="218993"/>
                  </a:lnTo>
                  <a:lnTo>
                    <a:pt x="632043" y="256836"/>
                  </a:lnTo>
                  <a:lnTo>
                    <a:pt x="637310" y="295616"/>
                  </a:lnTo>
                  <a:lnTo>
                    <a:pt x="638174" y="319087"/>
                  </a:lnTo>
                  <a:lnTo>
                    <a:pt x="638078" y="326920"/>
                  </a:lnTo>
                  <a:lnTo>
                    <a:pt x="634721" y="365907"/>
                  </a:lnTo>
                  <a:lnTo>
                    <a:pt x="626617" y="404189"/>
                  </a:lnTo>
                  <a:lnTo>
                    <a:pt x="613885" y="441196"/>
                  </a:lnTo>
                  <a:lnTo>
                    <a:pt x="596720" y="476367"/>
                  </a:lnTo>
                  <a:lnTo>
                    <a:pt x="575381" y="509167"/>
                  </a:lnTo>
                  <a:lnTo>
                    <a:pt x="550187" y="539109"/>
                  </a:lnTo>
                  <a:lnTo>
                    <a:pt x="521514" y="565745"/>
                  </a:lnTo>
                  <a:lnTo>
                    <a:pt x="489796" y="588671"/>
                  </a:lnTo>
                  <a:lnTo>
                    <a:pt x="455515" y="607539"/>
                  </a:lnTo>
                  <a:lnTo>
                    <a:pt x="419181" y="622069"/>
                  </a:lnTo>
                  <a:lnTo>
                    <a:pt x="381338" y="632043"/>
                  </a:lnTo>
                  <a:lnTo>
                    <a:pt x="342558" y="637310"/>
                  </a:lnTo>
                  <a:lnTo>
                    <a:pt x="319087" y="638174"/>
                  </a:lnTo>
                  <a:close/>
                </a:path>
              </a:pathLst>
            </a:custGeom>
            <a:solidFill>
              <a:srgbClr val="000000"/>
            </a:solidFill>
          </p:spPr>
          <p:txBody>
            <a:bodyPr wrap="square" lIns="0" tIns="0" rIns="0" bIns="0" rtlCol="0"/>
            <a:lstStyle/>
            <a:p>
              <a:endParaRPr/>
            </a:p>
          </p:txBody>
        </p:sp>
        <p:sp>
          <p:nvSpPr>
            <p:cNvPr id="15" name="object 15"/>
            <p:cNvSpPr/>
            <p:nvPr/>
          </p:nvSpPr>
          <p:spPr>
            <a:xfrm>
              <a:off x="6466160" y="9825813"/>
              <a:ext cx="399415" cy="240029"/>
            </a:xfrm>
            <a:custGeom>
              <a:avLst/>
              <a:gdLst/>
              <a:ahLst/>
              <a:cxnLst/>
              <a:rect l="l" t="t" r="r" b="b"/>
              <a:pathLst>
                <a:path w="399415" h="240029">
                  <a:moveTo>
                    <a:pt x="199546" y="108022"/>
                  </a:moveTo>
                  <a:lnTo>
                    <a:pt x="9218" y="3402"/>
                  </a:lnTo>
                  <a:lnTo>
                    <a:pt x="12464" y="1254"/>
                  </a:lnTo>
                  <a:lnTo>
                    <a:pt x="16353" y="0"/>
                  </a:lnTo>
                  <a:lnTo>
                    <a:pt x="383012" y="0"/>
                  </a:lnTo>
                  <a:lnTo>
                    <a:pt x="387333" y="1576"/>
                  </a:lnTo>
                  <a:lnTo>
                    <a:pt x="390791" y="4223"/>
                  </a:lnTo>
                  <a:lnTo>
                    <a:pt x="199546" y="108022"/>
                  </a:lnTo>
                  <a:close/>
                </a:path>
                <a:path w="399415" h="240029">
                  <a:moveTo>
                    <a:pt x="679" y="224123"/>
                  </a:moveTo>
                  <a:lnTo>
                    <a:pt x="231" y="222404"/>
                  </a:lnTo>
                  <a:lnTo>
                    <a:pt x="0" y="220689"/>
                  </a:lnTo>
                  <a:lnTo>
                    <a:pt x="0" y="21645"/>
                  </a:lnTo>
                  <a:lnTo>
                    <a:pt x="118192" y="85960"/>
                  </a:lnTo>
                  <a:lnTo>
                    <a:pt x="679" y="224123"/>
                  </a:lnTo>
                  <a:close/>
                </a:path>
                <a:path w="399415" h="240029">
                  <a:moveTo>
                    <a:pt x="396399" y="228627"/>
                  </a:moveTo>
                  <a:lnTo>
                    <a:pt x="280874" y="85960"/>
                  </a:lnTo>
                  <a:lnTo>
                    <a:pt x="398859" y="23053"/>
                  </a:lnTo>
                  <a:lnTo>
                    <a:pt x="398859" y="222404"/>
                  </a:lnTo>
                  <a:lnTo>
                    <a:pt x="397968" y="225725"/>
                  </a:lnTo>
                  <a:lnTo>
                    <a:pt x="396399" y="228627"/>
                  </a:lnTo>
                  <a:close/>
                </a:path>
                <a:path w="399415" h="240029">
                  <a:moveTo>
                    <a:pt x="378716" y="239402"/>
                  </a:moveTo>
                  <a:lnTo>
                    <a:pt x="18628" y="239402"/>
                  </a:lnTo>
                  <a:lnTo>
                    <a:pt x="16923" y="239167"/>
                  </a:lnTo>
                  <a:lnTo>
                    <a:pt x="15229" y="238716"/>
                  </a:lnTo>
                  <a:lnTo>
                    <a:pt x="136616" y="96276"/>
                  </a:lnTo>
                  <a:lnTo>
                    <a:pt x="196085" y="129623"/>
                  </a:lnTo>
                  <a:lnTo>
                    <a:pt x="197816" y="130060"/>
                  </a:lnTo>
                  <a:lnTo>
                    <a:pt x="289915" y="130060"/>
                  </a:lnTo>
                  <a:lnTo>
                    <a:pt x="378716" y="239402"/>
                  </a:lnTo>
                  <a:close/>
                </a:path>
                <a:path w="399415" h="240029">
                  <a:moveTo>
                    <a:pt x="289915" y="130060"/>
                  </a:moveTo>
                  <a:lnTo>
                    <a:pt x="201278" y="130060"/>
                  </a:lnTo>
                  <a:lnTo>
                    <a:pt x="203009" y="129623"/>
                  </a:lnTo>
                  <a:lnTo>
                    <a:pt x="262477" y="96276"/>
                  </a:lnTo>
                  <a:lnTo>
                    <a:pt x="289915" y="130060"/>
                  </a:lnTo>
                  <a:close/>
                </a:path>
              </a:pathLst>
            </a:custGeom>
            <a:solidFill>
              <a:srgbClr val="FFFFFF"/>
            </a:solidFill>
          </p:spPr>
          <p:txBody>
            <a:bodyPr wrap="square" lIns="0" tIns="0" rIns="0" bIns="0" rtlCol="0"/>
            <a:lstStyle/>
            <a:p>
              <a:endParaRPr/>
            </a:p>
          </p:txBody>
        </p:sp>
      </p:grpSp>
      <p:sp>
        <p:nvSpPr>
          <p:cNvPr id="16" name="object 16"/>
          <p:cNvSpPr txBox="1"/>
          <p:nvPr/>
        </p:nvSpPr>
        <p:spPr>
          <a:xfrm>
            <a:off x="7043125" y="9657009"/>
            <a:ext cx="4201795" cy="532130"/>
          </a:xfrm>
          <a:prstGeom prst="rect">
            <a:avLst/>
          </a:prstGeom>
        </p:spPr>
        <p:txBody>
          <a:bodyPr vert="horz" wrap="square" lIns="0" tIns="41275" rIns="0" bIns="0" rtlCol="0">
            <a:spAutoFit/>
          </a:bodyPr>
          <a:lstStyle/>
          <a:p>
            <a:pPr marL="12700">
              <a:lnSpc>
                <a:spcPct val="100000"/>
              </a:lnSpc>
              <a:spcBef>
                <a:spcPts val="325"/>
              </a:spcBef>
            </a:pPr>
            <a:r>
              <a:rPr sz="2900" spc="-114" dirty="0">
                <a:solidFill>
                  <a:srgbClr val="FFFFFF"/>
                </a:solidFill>
                <a:latin typeface="Arial Black"/>
                <a:cs typeface="Arial Black"/>
                <a:hlinkClick r:id="rId4"/>
              </a:rPr>
              <a:t>codingclub@sru.edu.in</a:t>
            </a:r>
            <a:endParaRPr sz="2900">
              <a:latin typeface="Arial Black"/>
              <a:cs typeface="Arial Black"/>
            </a:endParaRPr>
          </a:p>
        </p:txBody>
      </p:sp>
      <p:sp>
        <p:nvSpPr>
          <p:cNvPr id="18" name="TextBox 17">
            <a:extLst>
              <a:ext uri="{FF2B5EF4-FFF2-40B4-BE49-F238E27FC236}">
                <a16:creationId xmlns:a16="http://schemas.microsoft.com/office/drawing/2014/main" id="{D0309EB4-AE4B-6604-866E-4493C43EB637}"/>
              </a:ext>
            </a:extLst>
          </p:cNvPr>
          <p:cNvSpPr txBox="1"/>
          <p:nvPr/>
        </p:nvSpPr>
        <p:spPr>
          <a:xfrm>
            <a:off x="1600200" y="2781300"/>
            <a:ext cx="9144000" cy="3539430"/>
          </a:xfrm>
          <a:prstGeom prst="rect">
            <a:avLst/>
          </a:prstGeom>
          <a:noFill/>
        </p:spPr>
        <p:txBody>
          <a:bodyPr wrap="square">
            <a:spAutoFit/>
          </a:bodyPr>
          <a:lstStyle/>
          <a:p>
            <a:r>
              <a:rPr lang="en-US" sz="2800" b="1" u="sng" dirty="0"/>
              <a:t>For Users:</a:t>
            </a:r>
          </a:p>
          <a:p>
            <a:pPr marL="457200" indent="-457200">
              <a:buFont typeface="Arial" panose="020B0604020202020204" pitchFamily="34" charset="0"/>
              <a:buChar char="•"/>
            </a:pPr>
            <a:r>
              <a:rPr lang="en-US" sz="2800" dirty="0"/>
              <a:t>improved patient safety through reduced medication errors and drug interaction alerts </a:t>
            </a:r>
          </a:p>
          <a:p>
            <a:pPr marL="457200" indent="-457200">
              <a:buFont typeface="Arial" panose="020B0604020202020204" pitchFamily="34" charset="0"/>
              <a:buChar char="•"/>
            </a:pPr>
            <a:r>
              <a:rPr lang="en-US" sz="2800" dirty="0"/>
              <a:t>Better care coordination with seamless communication between doctors and caregivers </a:t>
            </a:r>
          </a:p>
          <a:p>
            <a:pPr marL="457200" indent="-457200">
              <a:buFont typeface="Arial" panose="020B0604020202020204" pitchFamily="34" charset="0"/>
              <a:buChar char="•"/>
            </a:pPr>
            <a:r>
              <a:rPr lang="en-US" sz="2800" dirty="0"/>
              <a:t>Enhanced health management via reminders, real-time monitoring, and easy access to records </a:t>
            </a:r>
          </a:p>
          <a:p>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669AE-6266-C8E5-A1C2-6A2A07583A29}"/>
              </a:ext>
            </a:extLst>
          </p:cNvPr>
          <p:cNvSpPr>
            <a:spLocks noGrp="1"/>
          </p:cNvSpPr>
          <p:nvPr>
            <p:ph type="title"/>
          </p:nvPr>
        </p:nvSpPr>
        <p:spPr>
          <a:xfrm>
            <a:off x="6477000" y="4345039"/>
            <a:ext cx="4692725" cy="787400"/>
          </a:xfrm>
        </p:spPr>
        <p:txBody>
          <a:bodyPr/>
          <a:lstStyle/>
          <a:p>
            <a:r>
              <a:rPr lang="en-US" dirty="0"/>
              <a:t>THANK YOU</a:t>
            </a:r>
            <a:endParaRPr lang="en-IN" dirty="0"/>
          </a:p>
        </p:txBody>
      </p:sp>
    </p:spTree>
    <p:extLst>
      <p:ext uri="{BB962C8B-B14F-4D97-AF65-F5344CB8AC3E}">
        <p14:creationId xmlns:p14="http://schemas.microsoft.com/office/powerpoint/2010/main" val="782027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TotalTime>
  <Words>582</Words>
  <Application>Microsoft Office PowerPoint</Application>
  <PresentationFormat>Custom</PresentationFormat>
  <Paragraphs>53</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Arial Black</vt:lpstr>
      <vt:lpstr>Times New Roman</vt:lpstr>
      <vt:lpstr>Verdana</vt:lpstr>
      <vt:lpstr>Wingdings</vt:lpstr>
      <vt:lpstr>Office Theme</vt:lpstr>
      <vt:lpstr>UdbhavaX'26</vt:lpstr>
      <vt:lpstr>Problem Scenario</vt:lpstr>
      <vt:lpstr>Current Pain Points (Why it Breaks)</vt:lpstr>
      <vt:lpstr>Objectives &amp; Success Criteria</vt:lpstr>
      <vt:lpstr>System Architecture</vt:lpstr>
      <vt:lpstr>Data Flow / Workflow</vt:lpstr>
      <vt:lpstr>Impact &amp; Benefits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UdbhavaX'26_slides_ref</dc:title>
  <dc:creator>Coding Club</dc:creator>
  <cp:keywords>DAG9RRHmMRA,BAGRFddF1s4,0</cp:keywords>
  <cp:lastModifiedBy>poojaswi alakanti</cp:lastModifiedBy>
  <cp:revision>4</cp:revision>
  <dcterms:created xsi:type="dcterms:W3CDTF">2026-04-06T05:38:24Z</dcterms:created>
  <dcterms:modified xsi:type="dcterms:W3CDTF">2026-04-06T11:52:16Z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2026-04-04T00:00:00Z</vt:filetime>
  </property>
  <property fmtid="{D5CDD505-2E9C-101B-9397-08002B2CF9AE}" pid="3" name="Creator">
    <vt:lpwstr>Canva</vt:lpwstr>
  </property>
  <property fmtid="{D5CDD505-2E9C-101B-9397-08002B2CF9AE}" pid="4" name="LastSaved">
    <vt:filetime>2026-04-06T00:00:00Z</vt:filetime>
  </property>
  <property fmtid="{D5CDD505-2E9C-101B-9397-08002B2CF9AE}" pid="5" name="Producer">
    <vt:lpwstr>Canva</vt:lpwstr>
  </property>
</Properties>
</file>